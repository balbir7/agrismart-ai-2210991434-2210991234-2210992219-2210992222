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3" r:id="rId7"/>
    <p:sldId id="278" r:id="rId8"/>
    <p:sldId id="279" r:id="rId9"/>
    <p:sldId id="280" r:id="rId10"/>
    <p:sldId id="276" r:id="rId11"/>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1" d="100"/>
          <a:sy n="81" d="100"/>
        </p:scale>
        <p:origin x="1498" y="5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746F3914-4D15-4EEC-B980-C0F133E2C72F}" type="datetimeFigureOut">
              <a:rPr lang="en-IN" smtClean="0"/>
              <a:t>26-04-2026</a:t>
            </a:fld>
            <a:endParaRPr lang="en-IN"/>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65D85236-3599-49C2-851E-5D6DC2614ECC}" type="slidenum">
              <a:rPr lang="en-IN" smtClean="0"/>
              <a:t>‹#›</a:t>
            </a:fld>
            <a:endParaRPr lang="en-IN"/>
          </a:p>
        </p:txBody>
      </p:sp>
    </p:spTree>
    <p:extLst>
      <p:ext uri="{BB962C8B-B14F-4D97-AF65-F5344CB8AC3E}">
        <p14:creationId xmlns:p14="http://schemas.microsoft.com/office/powerpoint/2010/main" val="12113463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rgbClr val="FF0000"/>
                </a:solidFill>
                <a:latin typeface="Arial Black"/>
                <a:cs typeface="Arial Black"/>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rgbClr val="FF0000"/>
                </a:solidFill>
                <a:latin typeface="Arial Black"/>
                <a:cs typeface="Arial Black"/>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4/26/2026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6701155"/>
            <a:ext cx="9144000" cy="156844"/>
          </a:xfrm>
          <a:prstGeom prst="rect">
            <a:avLst/>
          </a:prstGeom>
        </p:spPr>
      </p:pic>
      <p:sp>
        <p:nvSpPr>
          <p:cNvPr id="2" name="Holder 2"/>
          <p:cNvSpPr>
            <a:spLocks noGrp="1"/>
          </p:cNvSpPr>
          <p:nvPr>
            <p:ph type="title"/>
          </p:nvPr>
        </p:nvSpPr>
        <p:spPr/>
        <p:txBody>
          <a:bodyPr lIns="0" tIns="0" rIns="0" bIns="0"/>
          <a:lstStyle>
            <a:lvl1pPr>
              <a:defRPr sz="3600" b="0" i="0">
                <a:solidFill>
                  <a:srgbClr val="FF0000"/>
                </a:solidFill>
                <a:latin typeface="Arial Black"/>
                <a:cs typeface="Arial Black"/>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4/26/2026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4/26/2026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image" Target="../media/image4.jpg"/><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6701155"/>
            <a:ext cx="9144000" cy="156844"/>
          </a:xfrm>
          <a:prstGeom prst="rect">
            <a:avLst/>
          </a:prstGeom>
        </p:spPr>
      </p:pic>
      <p:sp>
        <p:nvSpPr>
          <p:cNvPr id="17" name="bg object 17"/>
          <p:cNvSpPr/>
          <p:nvPr/>
        </p:nvSpPr>
        <p:spPr>
          <a:xfrm>
            <a:off x="0" y="0"/>
            <a:ext cx="6146800" cy="838200"/>
          </a:xfrm>
          <a:custGeom>
            <a:avLst/>
            <a:gdLst/>
            <a:ahLst/>
            <a:cxnLst/>
            <a:rect l="l" t="t" r="r" b="b"/>
            <a:pathLst>
              <a:path w="6146800" h="838200">
                <a:moveTo>
                  <a:pt x="0" y="838200"/>
                </a:moveTo>
                <a:lnTo>
                  <a:pt x="6146800" y="838200"/>
                </a:lnTo>
                <a:lnTo>
                  <a:pt x="6146800" y="0"/>
                </a:lnTo>
                <a:lnTo>
                  <a:pt x="0" y="0"/>
                </a:lnTo>
                <a:lnTo>
                  <a:pt x="0" y="838200"/>
                </a:lnTo>
                <a:close/>
              </a:path>
            </a:pathLst>
          </a:custGeom>
          <a:solidFill>
            <a:srgbClr val="FF3200"/>
          </a:solidFill>
        </p:spPr>
        <p:txBody>
          <a:bodyPr wrap="square" lIns="0" tIns="0" rIns="0" bIns="0" rtlCol="0"/>
          <a:lstStyle/>
          <a:p>
            <a:endParaRPr/>
          </a:p>
        </p:txBody>
      </p:sp>
      <p:pic>
        <p:nvPicPr>
          <p:cNvPr id="18" name="bg object 18"/>
          <p:cNvPicPr/>
          <p:nvPr/>
        </p:nvPicPr>
        <p:blipFill>
          <a:blip r:embed="rId8" cstate="print"/>
          <a:stretch>
            <a:fillRect/>
          </a:stretch>
        </p:blipFill>
        <p:spPr>
          <a:xfrm>
            <a:off x="6600226" y="293275"/>
            <a:ext cx="1922199" cy="537986"/>
          </a:xfrm>
          <a:prstGeom prst="rect">
            <a:avLst/>
          </a:prstGeom>
        </p:spPr>
      </p:pic>
      <p:sp>
        <p:nvSpPr>
          <p:cNvPr id="19" name="bg object 19"/>
          <p:cNvSpPr/>
          <p:nvPr/>
        </p:nvSpPr>
        <p:spPr>
          <a:xfrm>
            <a:off x="6146800" y="0"/>
            <a:ext cx="2997200" cy="838200"/>
          </a:xfrm>
          <a:custGeom>
            <a:avLst/>
            <a:gdLst/>
            <a:ahLst/>
            <a:cxnLst/>
            <a:rect l="l" t="t" r="r" b="b"/>
            <a:pathLst>
              <a:path w="2997200" h="838200">
                <a:moveTo>
                  <a:pt x="2997200" y="0"/>
                </a:moveTo>
                <a:lnTo>
                  <a:pt x="0" y="0"/>
                </a:lnTo>
                <a:lnTo>
                  <a:pt x="0" y="838200"/>
                </a:lnTo>
                <a:lnTo>
                  <a:pt x="2997200" y="838200"/>
                </a:lnTo>
                <a:lnTo>
                  <a:pt x="2997200" y="0"/>
                </a:lnTo>
                <a:close/>
              </a:path>
            </a:pathLst>
          </a:custGeom>
          <a:solidFill>
            <a:srgbClr val="FF3200"/>
          </a:solidFill>
        </p:spPr>
        <p:txBody>
          <a:bodyPr wrap="square" lIns="0" tIns="0" rIns="0" bIns="0" rtlCol="0"/>
          <a:lstStyle/>
          <a:p>
            <a:endParaRPr/>
          </a:p>
        </p:txBody>
      </p:sp>
      <p:pic>
        <p:nvPicPr>
          <p:cNvPr id="20" name="bg object 20"/>
          <p:cNvPicPr/>
          <p:nvPr/>
        </p:nvPicPr>
        <p:blipFill>
          <a:blip r:embed="rId9" cstate="print"/>
          <a:stretch>
            <a:fillRect/>
          </a:stretch>
        </p:blipFill>
        <p:spPr>
          <a:xfrm>
            <a:off x="6553200" y="228600"/>
            <a:ext cx="2057400" cy="635000"/>
          </a:xfrm>
          <a:prstGeom prst="rect">
            <a:avLst/>
          </a:prstGeom>
        </p:spPr>
      </p:pic>
      <p:sp>
        <p:nvSpPr>
          <p:cNvPr id="21" name="bg object 21"/>
          <p:cNvSpPr/>
          <p:nvPr/>
        </p:nvSpPr>
        <p:spPr>
          <a:xfrm>
            <a:off x="6527800" y="190500"/>
            <a:ext cx="2076450" cy="685800"/>
          </a:xfrm>
          <a:custGeom>
            <a:avLst/>
            <a:gdLst/>
            <a:ahLst/>
            <a:cxnLst/>
            <a:rect l="l" t="t" r="r" b="b"/>
            <a:pathLst>
              <a:path w="2076450" h="685800">
                <a:moveTo>
                  <a:pt x="0" y="685800"/>
                </a:moveTo>
                <a:lnTo>
                  <a:pt x="2076450" y="685800"/>
                </a:lnTo>
                <a:lnTo>
                  <a:pt x="2076450" y="0"/>
                </a:lnTo>
                <a:lnTo>
                  <a:pt x="0" y="0"/>
                </a:lnTo>
                <a:lnTo>
                  <a:pt x="0" y="685800"/>
                </a:lnTo>
                <a:close/>
              </a:path>
            </a:pathLst>
          </a:custGeom>
          <a:solidFill>
            <a:srgbClr val="FFFFFF"/>
          </a:solidFill>
        </p:spPr>
        <p:txBody>
          <a:bodyPr wrap="square" lIns="0" tIns="0" rIns="0" bIns="0" rtlCol="0"/>
          <a:lstStyle/>
          <a:p>
            <a:endParaRPr/>
          </a:p>
        </p:txBody>
      </p:sp>
      <p:pic>
        <p:nvPicPr>
          <p:cNvPr id="22" name="bg object 22"/>
          <p:cNvPicPr/>
          <p:nvPr/>
        </p:nvPicPr>
        <p:blipFill>
          <a:blip r:embed="rId10" cstate="print"/>
          <a:stretch>
            <a:fillRect/>
          </a:stretch>
        </p:blipFill>
        <p:spPr>
          <a:xfrm>
            <a:off x="6553200" y="228600"/>
            <a:ext cx="1920875" cy="609600"/>
          </a:xfrm>
          <a:prstGeom prst="rect">
            <a:avLst/>
          </a:prstGeom>
        </p:spPr>
      </p:pic>
      <p:sp>
        <p:nvSpPr>
          <p:cNvPr id="2" name="Holder 2"/>
          <p:cNvSpPr>
            <a:spLocks noGrp="1"/>
          </p:cNvSpPr>
          <p:nvPr>
            <p:ph type="title"/>
          </p:nvPr>
        </p:nvSpPr>
        <p:spPr>
          <a:xfrm>
            <a:off x="1412875" y="1588896"/>
            <a:ext cx="6318250" cy="1122680"/>
          </a:xfrm>
          <a:prstGeom prst="rect">
            <a:avLst/>
          </a:prstGeom>
        </p:spPr>
        <p:txBody>
          <a:bodyPr wrap="square" lIns="0" tIns="0" rIns="0" bIns="0">
            <a:spAutoFit/>
          </a:bodyPr>
          <a:lstStyle>
            <a:lvl1pPr>
              <a:defRPr sz="3600" b="0" i="0">
                <a:solidFill>
                  <a:srgbClr val="FF0000"/>
                </a:solidFill>
                <a:latin typeface="Arial Black"/>
                <a:cs typeface="Arial Black"/>
              </a:defRPr>
            </a:lvl1pPr>
          </a:lstStyle>
          <a:p>
            <a:endParaRPr/>
          </a:p>
        </p:txBody>
      </p:sp>
      <p:sp>
        <p:nvSpPr>
          <p:cNvPr id="3" name="Holder 3"/>
          <p:cNvSpPr>
            <a:spLocks noGrp="1"/>
          </p:cNvSpPr>
          <p:nvPr>
            <p:ph type="body" idx="1"/>
          </p:nvPr>
        </p:nvSpPr>
        <p:spPr>
          <a:xfrm>
            <a:off x="474344" y="1337840"/>
            <a:ext cx="8195310" cy="222186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4/26/2026</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jp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6701155"/>
            <a:ext cx="9144000" cy="156844"/>
          </a:xfrm>
          <a:prstGeom prst="rect">
            <a:avLst/>
          </a:prstGeom>
        </p:spPr>
      </p:pic>
      <p:sp>
        <p:nvSpPr>
          <p:cNvPr id="3" name="object 3"/>
          <p:cNvSpPr txBox="1"/>
          <p:nvPr/>
        </p:nvSpPr>
        <p:spPr>
          <a:xfrm>
            <a:off x="3374390" y="4663464"/>
            <a:ext cx="71120" cy="281305"/>
          </a:xfrm>
          <a:prstGeom prst="rect">
            <a:avLst/>
          </a:prstGeom>
        </p:spPr>
        <p:txBody>
          <a:bodyPr vert="horz" wrap="square" lIns="0" tIns="0" rIns="0" bIns="0" rtlCol="0">
            <a:spAutoFit/>
          </a:bodyPr>
          <a:lstStyle/>
          <a:p>
            <a:pPr>
              <a:lnSpc>
                <a:spcPts val="2180"/>
              </a:lnSpc>
            </a:pPr>
            <a:r>
              <a:rPr sz="2000" dirty="0">
                <a:latin typeface="Times New Roman"/>
                <a:cs typeface="Times New Roman"/>
              </a:rPr>
              <a:t>:</a:t>
            </a:r>
            <a:endParaRPr sz="2000">
              <a:latin typeface="Times New Roman"/>
              <a:cs typeface="Times New Roman"/>
            </a:endParaRPr>
          </a:p>
        </p:txBody>
      </p:sp>
      <p:sp>
        <p:nvSpPr>
          <p:cNvPr id="4" name="object 4"/>
          <p:cNvSpPr txBox="1">
            <a:spLocks noGrp="1"/>
          </p:cNvSpPr>
          <p:nvPr>
            <p:ph type="title"/>
          </p:nvPr>
        </p:nvSpPr>
        <p:spPr>
          <a:xfrm>
            <a:off x="1265555" y="1145306"/>
            <a:ext cx="6318250" cy="566822"/>
          </a:xfrm>
          <a:prstGeom prst="rect">
            <a:avLst/>
          </a:prstGeom>
        </p:spPr>
        <p:txBody>
          <a:bodyPr vert="horz" wrap="square" lIns="0" tIns="12700" rIns="0" bIns="0" rtlCol="0">
            <a:spAutoFit/>
          </a:bodyPr>
          <a:lstStyle/>
          <a:p>
            <a:pPr marL="2038350" marR="5080" indent="-2025650">
              <a:lnSpc>
                <a:spcPct val="100000"/>
              </a:lnSpc>
              <a:spcBef>
                <a:spcPts val="100"/>
              </a:spcBef>
            </a:pPr>
            <a:r>
              <a:rPr lang="en-US" spc="10" dirty="0"/>
              <a:t>           </a:t>
            </a:r>
            <a:r>
              <a:rPr lang="en-US" spc="10" dirty="0" err="1"/>
              <a:t>AgriSmart</a:t>
            </a:r>
            <a:r>
              <a:rPr lang="en-US" spc="10" dirty="0"/>
              <a:t> AI</a:t>
            </a:r>
            <a:endParaRPr spc="10" dirty="0"/>
          </a:p>
        </p:txBody>
      </p:sp>
      <p:sp>
        <p:nvSpPr>
          <p:cNvPr id="5" name="object 5"/>
          <p:cNvSpPr txBox="1"/>
          <p:nvPr/>
        </p:nvSpPr>
        <p:spPr>
          <a:xfrm>
            <a:off x="1265555" y="5505779"/>
            <a:ext cx="6604000" cy="634365"/>
          </a:xfrm>
          <a:prstGeom prst="rect">
            <a:avLst/>
          </a:prstGeom>
        </p:spPr>
        <p:txBody>
          <a:bodyPr vert="horz" wrap="square" lIns="0" tIns="12700" rIns="0" bIns="0" rtlCol="0">
            <a:spAutoFit/>
          </a:bodyPr>
          <a:lstStyle/>
          <a:p>
            <a:pPr marL="1852930" marR="5080" indent="-1840230">
              <a:lnSpc>
                <a:spcPct val="100000"/>
              </a:lnSpc>
              <a:spcBef>
                <a:spcPts val="100"/>
              </a:spcBef>
            </a:pPr>
            <a:r>
              <a:rPr sz="2000" b="1" spc="-5" dirty="0">
                <a:solidFill>
                  <a:srgbClr val="FF0000"/>
                </a:solidFill>
                <a:latin typeface="Times New Roman"/>
                <a:cs typeface="Times New Roman"/>
              </a:rPr>
              <a:t>Chitkara</a:t>
            </a:r>
            <a:r>
              <a:rPr sz="2000" b="1" spc="-15" dirty="0">
                <a:solidFill>
                  <a:srgbClr val="FF0000"/>
                </a:solidFill>
                <a:latin typeface="Times New Roman"/>
                <a:cs typeface="Times New Roman"/>
              </a:rPr>
              <a:t> </a:t>
            </a:r>
            <a:r>
              <a:rPr sz="2000" b="1" spc="-5" dirty="0">
                <a:solidFill>
                  <a:srgbClr val="FF0000"/>
                </a:solidFill>
                <a:latin typeface="Times New Roman"/>
                <a:cs typeface="Times New Roman"/>
              </a:rPr>
              <a:t>University</a:t>
            </a:r>
            <a:r>
              <a:rPr sz="2000" b="1" spc="-20" dirty="0">
                <a:solidFill>
                  <a:srgbClr val="FF0000"/>
                </a:solidFill>
                <a:latin typeface="Times New Roman"/>
                <a:cs typeface="Times New Roman"/>
              </a:rPr>
              <a:t> </a:t>
            </a:r>
            <a:r>
              <a:rPr sz="2000" b="1" spc="-5" dirty="0">
                <a:solidFill>
                  <a:srgbClr val="FF0000"/>
                </a:solidFill>
                <a:latin typeface="Times New Roman"/>
                <a:cs typeface="Times New Roman"/>
              </a:rPr>
              <a:t>Institute</a:t>
            </a:r>
            <a:r>
              <a:rPr sz="2000" b="1" spc="-35" dirty="0">
                <a:solidFill>
                  <a:srgbClr val="FF0000"/>
                </a:solidFill>
                <a:latin typeface="Times New Roman"/>
                <a:cs typeface="Times New Roman"/>
              </a:rPr>
              <a:t> </a:t>
            </a:r>
            <a:r>
              <a:rPr sz="2000" b="1" dirty="0">
                <a:solidFill>
                  <a:srgbClr val="FF0000"/>
                </a:solidFill>
                <a:latin typeface="Times New Roman"/>
                <a:cs typeface="Times New Roman"/>
              </a:rPr>
              <a:t>of </a:t>
            </a:r>
            <a:r>
              <a:rPr sz="2000" b="1" spc="-5" dirty="0">
                <a:solidFill>
                  <a:srgbClr val="FF0000"/>
                </a:solidFill>
                <a:latin typeface="Times New Roman"/>
                <a:cs typeface="Times New Roman"/>
              </a:rPr>
              <a:t>Engineering</a:t>
            </a:r>
            <a:r>
              <a:rPr sz="2000" b="1" spc="-15" dirty="0">
                <a:solidFill>
                  <a:srgbClr val="FF0000"/>
                </a:solidFill>
                <a:latin typeface="Times New Roman"/>
                <a:cs typeface="Times New Roman"/>
              </a:rPr>
              <a:t> </a:t>
            </a:r>
            <a:r>
              <a:rPr sz="2000" b="1" dirty="0">
                <a:solidFill>
                  <a:srgbClr val="FF0000"/>
                </a:solidFill>
                <a:latin typeface="Times New Roman"/>
                <a:cs typeface="Times New Roman"/>
              </a:rPr>
              <a:t>and</a:t>
            </a:r>
            <a:r>
              <a:rPr sz="2000" b="1" spc="-75" dirty="0">
                <a:solidFill>
                  <a:srgbClr val="FF0000"/>
                </a:solidFill>
                <a:latin typeface="Times New Roman"/>
                <a:cs typeface="Times New Roman"/>
              </a:rPr>
              <a:t> </a:t>
            </a:r>
            <a:r>
              <a:rPr sz="2000" b="1" spc="-60" dirty="0">
                <a:solidFill>
                  <a:srgbClr val="FF0000"/>
                </a:solidFill>
                <a:latin typeface="Times New Roman"/>
                <a:cs typeface="Times New Roman"/>
              </a:rPr>
              <a:t>Technology, </a:t>
            </a:r>
            <a:r>
              <a:rPr sz="2000" b="1" spc="-484" dirty="0">
                <a:solidFill>
                  <a:srgbClr val="FF0000"/>
                </a:solidFill>
                <a:latin typeface="Times New Roman"/>
                <a:cs typeface="Times New Roman"/>
              </a:rPr>
              <a:t> </a:t>
            </a:r>
            <a:r>
              <a:rPr sz="2000" b="1" spc="-5" dirty="0">
                <a:solidFill>
                  <a:srgbClr val="FF0000"/>
                </a:solidFill>
                <a:latin typeface="Times New Roman"/>
                <a:cs typeface="Times New Roman"/>
              </a:rPr>
              <a:t>Chitkara</a:t>
            </a:r>
            <a:r>
              <a:rPr sz="2000" b="1" spc="-35" dirty="0">
                <a:solidFill>
                  <a:srgbClr val="FF0000"/>
                </a:solidFill>
                <a:latin typeface="Times New Roman"/>
                <a:cs typeface="Times New Roman"/>
              </a:rPr>
              <a:t> </a:t>
            </a:r>
            <a:r>
              <a:rPr sz="2000" b="1" spc="-25" dirty="0">
                <a:solidFill>
                  <a:srgbClr val="FF0000"/>
                </a:solidFill>
                <a:latin typeface="Times New Roman"/>
                <a:cs typeface="Times New Roman"/>
              </a:rPr>
              <a:t>University,</a:t>
            </a:r>
            <a:r>
              <a:rPr sz="2000" b="1" spc="-65" dirty="0">
                <a:solidFill>
                  <a:srgbClr val="FF0000"/>
                </a:solidFill>
                <a:latin typeface="Times New Roman"/>
                <a:cs typeface="Times New Roman"/>
              </a:rPr>
              <a:t> </a:t>
            </a:r>
            <a:r>
              <a:rPr sz="2000" b="1" spc="-5" dirty="0">
                <a:solidFill>
                  <a:srgbClr val="FF0000"/>
                </a:solidFill>
                <a:latin typeface="Times New Roman"/>
                <a:cs typeface="Times New Roman"/>
              </a:rPr>
              <a:t>Punjab</a:t>
            </a:r>
            <a:endParaRPr sz="2000" dirty="0">
              <a:latin typeface="Times New Roman"/>
              <a:cs typeface="Times New Roman"/>
            </a:endParaRPr>
          </a:p>
        </p:txBody>
      </p:sp>
      <p:sp>
        <p:nvSpPr>
          <p:cNvPr id="6" name="object 6"/>
          <p:cNvSpPr txBox="1"/>
          <p:nvPr/>
        </p:nvSpPr>
        <p:spPr>
          <a:xfrm>
            <a:off x="1752600" y="2019234"/>
            <a:ext cx="5113020" cy="3244478"/>
          </a:xfrm>
          <a:prstGeom prst="rect">
            <a:avLst/>
          </a:prstGeom>
          <a:solidFill>
            <a:srgbClr val="FAC08F"/>
          </a:solidFill>
        </p:spPr>
        <p:txBody>
          <a:bodyPr vert="horz" wrap="square" lIns="0" tIns="0" rIns="0" bIns="0" rtlCol="0">
            <a:spAutoFit/>
          </a:bodyPr>
          <a:lstStyle/>
          <a:p>
            <a:pPr marL="91440" algn="ctr">
              <a:lnSpc>
                <a:spcPts val="2275"/>
              </a:lnSpc>
            </a:pPr>
            <a:r>
              <a:rPr lang="en-IN" sz="2000" dirty="0">
                <a:latin typeface="Times New Roman"/>
                <a:cs typeface="Times New Roman"/>
              </a:rPr>
              <a:t>Name – Balbir Singh</a:t>
            </a:r>
            <a:br>
              <a:rPr lang="en-IN" sz="2000" dirty="0">
                <a:latin typeface="Times New Roman"/>
                <a:cs typeface="Times New Roman"/>
              </a:rPr>
            </a:br>
            <a:r>
              <a:rPr lang="en-IN" sz="2000" dirty="0">
                <a:latin typeface="Times New Roman"/>
                <a:cs typeface="Times New Roman"/>
              </a:rPr>
              <a:t>Roll Number – 2210991434</a:t>
            </a:r>
          </a:p>
          <a:p>
            <a:pPr marL="91440" algn="ctr">
              <a:lnSpc>
                <a:spcPts val="2275"/>
              </a:lnSpc>
            </a:pPr>
            <a:r>
              <a:rPr lang="en-IN" sz="2000" dirty="0">
                <a:latin typeface="Times New Roman"/>
                <a:cs typeface="Times New Roman"/>
              </a:rPr>
              <a:t>Name – Akshit</a:t>
            </a:r>
          </a:p>
          <a:p>
            <a:pPr marL="91440" algn="ctr">
              <a:lnSpc>
                <a:spcPts val="2275"/>
              </a:lnSpc>
            </a:pPr>
            <a:r>
              <a:rPr lang="en-IN" sz="2000" dirty="0">
                <a:latin typeface="Times New Roman"/>
                <a:cs typeface="Times New Roman"/>
              </a:rPr>
              <a:t>Roll Number – 2210991234</a:t>
            </a:r>
          </a:p>
          <a:p>
            <a:pPr marL="91440" algn="ctr">
              <a:lnSpc>
                <a:spcPts val="2275"/>
              </a:lnSpc>
            </a:pPr>
            <a:r>
              <a:rPr lang="en-IN" sz="2000" dirty="0">
                <a:latin typeface="Times New Roman"/>
                <a:cs typeface="Times New Roman"/>
              </a:rPr>
              <a:t>Name – Saksham </a:t>
            </a:r>
          </a:p>
          <a:p>
            <a:pPr marL="91440" algn="ctr">
              <a:lnSpc>
                <a:spcPts val="2275"/>
              </a:lnSpc>
            </a:pPr>
            <a:r>
              <a:rPr lang="en-IN" sz="2000" dirty="0">
                <a:latin typeface="Times New Roman"/>
                <a:cs typeface="Times New Roman"/>
              </a:rPr>
              <a:t>Roll Number – 2210992218</a:t>
            </a:r>
          </a:p>
          <a:p>
            <a:pPr marL="91440" algn="ctr">
              <a:lnSpc>
                <a:spcPts val="2275"/>
              </a:lnSpc>
            </a:pPr>
            <a:r>
              <a:rPr lang="en-IN" sz="2000" dirty="0">
                <a:latin typeface="Times New Roman"/>
                <a:cs typeface="Times New Roman"/>
              </a:rPr>
              <a:t>Name – Saksham Gupta</a:t>
            </a:r>
          </a:p>
          <a:p>
            <a:pPr marL="91440" algn="ctr">
              <a:lnSpc>
                <a:spcPts val="2275"/>
              </a:lnSpc>
            </a:pPr>
            <a:r>
              <a:rPr lang="en-IN" sz="2000" dirty="0">
                <a:latin typeface="Times New Roman"/>
                <a:cs typeface="Times New Roman"/>
              </a:rPr>
              <a:t>Roll Number – 2210992222</a:t>
            </a:r>
          </a:p>
          <a:p>
            <a:pPr marL="91440" algn="ctr">
              <a:lnSpc>
                <a:spcPts val="2275"/>
              </a:lnSpc>
            </a:pPr>
            <a:r>
              <a:rPr lang="en-IN" sz="2000" dirty="0">
                <a:latin typeface="Times New Roman"/>
                <a:cs typeface="Times New Roman"/>
              </a:rPr>
              <a:t>Group – 23</a:t>
            </a:r>
          </a:p>
          <a:p>
            <a:pPr marL="91440" algn="ctr">
              <a:lnSpc>
                <a:spcPts val="2275"/>
              </a:lnSpc>
            </a:pPr>
            <a:r>
              <a:rPr lang="en-IN" sz="2000" dirty="0">
                <a:latin typeface="Times New Roman"/>
                <a:cs typeface="Times New Roman"/>
              </a:rPr>
              <a:t>Subject code – 22CS422</a:t>
            </a:r>
          </a:p>
          <a:p>
            <a:pPr marL="91440" algn="ctr">
              <a:lnSpc>
                <a:spcPts val="2275"/>
              </a:lnSpc>
            </a:pPr>
            <a:r>
              <a:rPr lang="en-IN" sz="2000" dirty="0">
                <a:latin typeface="Times New Roman"/>
                <a:cs typeface="Times New Roman"/>
              </a:rPr>
              <a:t>Submitted to – Dr. Rajat </a:t>
            </a:r>
            <a:r>
              <a:rPr lang="en-IN" sz="2000" dirty="0" err="1">
                <a:latin typeface="Times New Roman"/>
                <a:cs typeface="Times New Roman"/>
              </a:rPr>
              <a:t>Takkar</a:t>
            </a:r>
            <a:endParaRPr lang="en-IN" sz="2000" dirty="0">
              <a:latin typeface="Times New Roman"/>
              <a:cs typeface="Times New Roman"/>
            </a:endParaRPr>
          </a:p>
        </p:txBody>
      </p:sp>
      <p:grpSp>
        <p:nvGrpSpPr>
          <p:cNvPr id="7" name="object 7"/>
          <p:cNvGrpSpPr/>
          <p:nvPr/>
        </p:nvGrpSpPr>
        <p:grpSpPr>
          <a:xfrm>
            <a:off x="0" y="0"/>
            <a:ext cx="9144000" cy="876300"/>
            <a:chOff x="0" y="0"/>
            <a:chExt cx="9144000" cy="876300"/>
          </a:xfrm>
        </p:grpSpPr>
        <p:sp>
          <p:nvSpPr>
            <p:cNvPr id="8" name="object 8"/>
            <p:cNvSpPr/>
            <p:nvPr/>
          </p:nvSpPr>
          <p:spPr>
            <a:xfrm>
              <a:off x="0" y="0"/>
              <a:ext cx="6146800" cy="838200"/>
            </a:xfrm>
            <a:custGeom>
              <a:avLst/>
              <a:gdLst/>
              <a:ahLst/>
              <a:cxnLst/>
              <a:rect l="l" t="t" r="r" b="b"/>
              <a:pathLst>
                <a:path w="6146800" h="838200">
                  <a:moveTo>
                    <a:pt x="0" y="838200"/>
                  </a:moveTo>
                  <a:lnTo>
                    <a:pt x="6146800" y="838200"/>
                  </a:lnTo>
                  <a:lnTo>
                    <a:pt x="6146800" y="0"/>
                  </a:lnTo>
                  <a:lnTo>
                    <a:pt x="0" y="0"/>
                  </a:lnTo>
                  <a:lnTo>
                    <a:pt x="0" y="838200"/>
                  </a:lnTo>
                  <a:close/>
                </a:path>
              </a:pathLst>
            </a:custGeom>
            <a:solidFill>
              <a:srgbClr val="FF3200"/>
            </a:solidFill>
          </p:spPr>
          <p:txBody>
            <a:bodyPr wrap="square" lIns="0" tIns="0" rIns="0" bIns="0" rtlCol="0"/>
            <a:lstStyle/>
            <a:p>
              <a:endParaRPr/>
            </a:p>
          </p:txBody>
        </p:sp>
        <p:pic>
          <p:nvPicPr>
            <p:cNvPr id="9" name="object 9"/>
            <p:cNvPicPr/>
            <p:nvPr/>
          </p:nvPicPr>
          <p:blipFill>
            <a:blip r:embed="rId3" cstate="print"/>
            <a:stretch>
              <a:fillRect/>
            </a:stretch>
          </p:blipFill>
          <p:spPr>
            <a:xfrm>
              <a:off x="6600226" y="293275"/>
              <a:ext cx="1922199" cy="537986"/>
            </a:xfrm>
            <a:prstGeom prst="rect">
              <a:avLst/>
            </a:prstGeom>
          </p:spPr>
        </p:pic>
        <p:sp>
          <p:nvSpPr>
            <p:cNvPr id="10" name="object 10"/>
            <p:cNvSpPr/>
            <p:nvPr/>
          </p:nvSpPr>
          <p:spPr>
            <a:xfrm>
              <a:off x="6146799" y="0"/>
              <a:ext cx="2997200" cy="838200"/>
            </a:xfrm>
            <a:custGeom>
              <a:avLst/>
              <a:gdLst/>
              <a:ahLst/>
              <a:cxnLst/>
              <a:rect l="l" t="t" r="r" b="b"/>
              <a:pathLst>
                <a:path w="2997200" h="838200">
                  <a:moveTo>
                    <a:pt x="2997200" y="0"/>
                  </a:moveTo>
                  <a:lnTo>
                    <a:pt x="0" y="0"/>
                  </a:lnTo>
                  <a:lnTo>
                    <a:pt x="0" y="838200"/>
                  </a:lnTo>
                  <a:lnTo>
                    <a:pt x="2997200" y="838200"/>
                  </a:lnTo>
                  <a:lnTo>
                    <a:pt x="2997200" y="0"/>
                  </a:lnTo>
                  <a:close/>
                </a:path>
              </a:pathLst>
            </a:custGeom>
            <a:solidFill>
              <a:srgbClr val="FF3200"/>
            </a:solidFill>
          </p:spPr>
          <p:txBody>
            <a:bodyPr wrap="square" lIns="0" tIns="0" rIns="0" bIns="0" rtlCol="0"/>
            <a:lstStyle/>
            <a:p>
              <a:endParaRPr/>
            </a:p>
          </p:txBody>
        </p:sp>
        <p:pic>
          <p:nvPicPr>
            <p:cNvPr id="11" name="object 11"/>
            <p:cNvPicPr/>
            <p:nvPr/>
          </p:nvPicPr>
          <p:blipFill>
            <a:blip r:embed="rId4" cstate="print"/>
            <a:stretch>
              <a:fillRect/>
            </a:stretch>
          </p:blipFill>
          <p:spPr>
            <a:xfrm>
              <a:off x="6553199" y="228600"/>
              <a:ext cx="2057400" cy="635000"/>
            </a:xfrm>
            <a:prstGeom prst="rect">
              <a:avLst/>
            </a:prstGeom>
          </p:spPr>
        </p:pic>
        <p:sp>
          <p:nvSpPr>
            <p:cNvPr id="12" name="object 12"/>
            <p:cNvSpPr/>
            <p:nvPr/>
          </p:nvSpPr>
          <p:spPr>
            <a:xfrm>
              <a:off x="6527799" y="190500"/>
              <a:ext cx="2076450" cy="685800"/>
            </a:xfrm>
            <a:custGeom>
              <a:avLst/>
              <a:gdLst/>
              <a:ahLst/>
              <a:cxnLst/>
              <a:rect l="l" t="t" r="r" b="b"/>
              <a:pathLst>
                <a:path w="2076450" h="685800">
                  <a:moveTo>
                    <a:pt x="0" y="685800"/>
                  </a:moveTo>
                  <a:lnTo>
                    <a:pt x="2076450" y="685800"/>
                  </a:lnTo>
                  <a:lnTo>
                    <a:pt x="2076450" y="0"/>
                  </a:lnTo>
                  <a:lnTo>
                    <a:pt x="0" y="0"/>
                  </a:lnTo>
                  <a:lnTo>
                    <a:pt x="0" y="685800"/>
                  </a:lnTo>
                  <a:close/>
                </a:path>
              </a:pathLst>
            </a:custGeom>
            <a:solidFill>
              <a:srgbClr val="FFFFFF"/>
            </a:solidFill>
          </p:spPr>
          <p:txBody>
            <a:bodyPr wrap="square" lIns="0" tIns="0" rIns="0" bIns="0" rtlCol="0"/>
            <a:lstStyle/>
            <a:p>
              <a:endParaRPr/>
            </a:p>
          </p:txBody>
        </p:sp>
        <p:pic>
          <p:nvPicPr>
            <p:cNvPr id="13" name="object 13"/>
            <p:cNvPicPr/>
            <p:nvPr/>
          </p:nvPicPr>
          <p:blipFill>
            <a:blip r:embed="rId5" cstate="print"/>
            <a:stretch>
              <a:fillRect/>
            </a:stretch>
          </p:blipFill>
          <p:spPr>
            <a:xfrm>
              <a:off x="6553199" y="228600"/>
              <a:ext cx="1920875" cy="609600"/>
            </a:xfrm>
            <a:prstGeom prst="rect">
              <a:avLst/>
            </a:prstGeom>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69118" y="310134"/>
            <a:ext cx="3041015" cy="513080"/>
          </a:xfrm>
          <a:prstGeom prst="rect">
            <a:avLst/>
          </a:prstGeom>
        </p:spPr>
        <p:txBody>
          <a:bodyPr vert="horz" wrap="square" lIns="0" tIns="12700" rIns="0" bIns="0" rtlCol="0">
            <a:spAutoFit/>
          </a:bodyPr>
          <a:lstStyle/>
          <a:p>
            <a:pPr marL="12700">
              <a:lnSpc>
                <a:spcPct val="100000"/>
              </a:lnSpc>
              <a:spcBef>
                <a:spcPts val="100"/>
              </a:spcBef>
            </a:pPr>
            <a:r>
              <a:rPr sz="3200" b="1" spc="-120" dirty="0">
                <a:solidFill>
                  <a:srgbClr val="000000"/>
                </a:solidFill>
                <a:latin typeface="Times New Roman"/>
                <a:cs typeface="Times New Roman"/>
              </a:rPr>
              <a:t>Table</a:t>
            </a:r>
            <a:r>
              <a:rPr sz="3200" b="1" spc="-60" dirty="0">
                <a:solidFill>
                  <a:srgbClr val="000000"/>
                </a:solidFill>
                <a:latin typeface="Times New Roman"/>
                <a:cs typeface="Times New Roman"/>
              </a:rPr>
              <a:t> </a:t>
            </a:r>
            <a:r>
              <a:rPr sz="3200" b="1" dirty="0">
                <a:solidFill>
                  <a:srgbClr val="000000"/>
                </a:solidFill>
                <a:latin typeface="Times New Roman"/>
                <a:cs typeface="Times New Roman"/>
              </a:rPr>
              <a:t>of</a:t>
            </a:r>
            <a:r>
              <a:rPr sz="3200" b="1" spc="-30" dirty="0">
                <a:solidFill>
                  <a:srgbClr val="000000"/>
                </a:solidFill>
                <a:latin typeface="Times New Roman"/>
                <a:cs typeface="Times New Roman"/>
              </a:rPr>
              <a:t> </a:t>
            </a:r>
            <a:r>
              <a:rPr sz="3200" b="1" spc="-5" dirty="0">
                <a:solidFill>
                  <a:srgbClr val="000000"/>
                </a:solidFill>
                <a:latin typeface="Times New Roman"/>
                <a:cs typeface="Times New Roman"/>
              </a:rPr>
              <a:t>Contents</a:t>
            </a:r>
            <a:endParaRPr sz="3200">
              <a:latin typeface="Times New Roman"/>
              <a:cs typeface="Times New Roman"/>
            </a:endParaRPr>
          </a:p>
        </p:txBody>
      </p:sp>
      <p:sp>
        <p:nvSpPr>
          <p:cNvPr id="3" name="object 3"/>
          <p:cNvSpPr txBox="1"/>
          <p:nvPr/>
        </p:nvSpPr>
        <p:spPr>
          <a:xfrm>
            <a:off x="401954" y="1021720"/>
            <a:ext cx="5236846" cy="1951816"/>
          </a:xfrm>
          <a:prstGeom prst="rect">
            <a:avLst/>
          </a:prstGeom>
        </p:spPr>
        <p:txBody>
          <a:bodyPr vert="horz" wrap="square" lIns="0" tIns="12700" rIns="0" bIns="0" rtlCol="0">
            <a:spAutoFit/>
          </a:bodyPr>
          <a:lstStyle/>
          <a:p>
            <a:pPr marL="137795" indent="-125730">
              <a:lnSpc>
                <a:spcPct val="100000"/>
              </a:lnSpc>
              <a:spcBef>
                <a:spcPts val="100"/>
              </a:spcBef>
              <a:buSzPct val="96428"/>
              <a:buFont typeface="Arial MT"/>
              <a:buChar char="•"/>
              <a:tabLst>
                <a:tab pos="138430" algn="l"/>
              </a:tabLst>
            </a:pPr>
            <a:r>
              <a:rPr spc="-5" dirty="0">
                <a:latin typeface="Times New Roman"/>
                <a:cs typeface="Times New Roman"/>
              </a:rPr>
              <a:t>Introduction</a:t>
            </a:r>
            <a:endParaRPr dirty="0">
              <a:latin typeface="Times New Roman"/>
              <a:cs typeface="Times New Roman"/>
            </a:endParaRPr>
          </a:p>
          <a:p>
            <a:pPr marL="137795" indent="-125730">
              <a:lnSpc>
                <a:spcPct val="100000"/>
              </a:lnSpc>
              <a:spcBef>
                <a:spcPts val="5"/>
              </a:spcBef>
              <a:buSzPct val="96428"/>
              <a:buFont typeface="Arial MT"/>
              <a:buChar char="•"/>
              <a:tabLst>
                <a:tab pos="138430" algn="l"/>
              </a:tabLst>
            </a:pPr>
            <a:r>
              <a:rPr dirty="0">
                <a:latin typeface="Times New Roman"/>
                <a:cs typeface="Times New Roman"/>
              </a:rPr>
              <a:t>Prob</a:t>
            </a:r>
            <a:r>
              <a:rPr spc="-5" dirty="0">
                <a:latin typeface="Times New Roman"/>
                <a:cs typeface="Times New Roman"/>
              </a:rPr>
              <a:t>le</a:t>
            </a:r>
            <a:r>
              <a:rPr dirty="0">
                <a:latin typeface="Times New Roman"/>
                <a:cs typeface="Times New Roman"/>
              </a:rPr>
              <a:t>m</a:t>
            </a:r>
            <a:r>
              <a:rPr spc="-235" dirty="0">
                <a:latin typeface="Times New Roman"/>
                <a:cs typeface="Times New Roman"/>
              </a:rPr>
              <a:t> </a:t>
            </a:r>
            <a:r>
              <a:rPr spc="-5" dirty="0">
                <a:latin typeface="Times New Roman"/>
                <a:cs typeface="Times New Roman"/>
              </a:rPr>
              <a:t>Statement</a:t>
            </a:r>
            <a:endParaRPr dirty="0">
              <a:latin typeface="Times New Roman"/>
              <a:cs typeface="Times New Roman"/>
            </a:endParaRPr>
          </a:p>
          <a:p>
            <a:pPr marL="137795" indent="-125730">
              <a:lnSpc>
                <a:spcPct val="100000"/>
              </a:lnSpc>
              <a:spcBef>
                <a:spcPts val="5"/>
              </a:spcBef>
              <a:buSzPct val="96428"/>
              <a:buFont typeface="Arial MT"/>
              <a:buChar char="•"/>
              <a:tabLst>
                <a:tab pos="138430" algn="l"/>
              </a:tabLst>
            </a:pPr>
            <a:r>
              <a:rPr spc="-405" dirty="0">
                <a:latin typeface="Times New Roman"/>
                <a:cs typeface="Times New Roman"/>
              </a:rPr>
              <a:t>T</a:t>
            </a:r>
            <a:r>
              <a:rPr lang="en-US" spc="-405" dirty="0">
                <a:latin typeface="Times New Roman"/>
                <a:cs typeface="Times New Roman"/>
              </a:rPr>
              <a:t>   </a:t>
            </a:r>
            <a:r>
              <a:rPr dirty="0" err="1">
                <a:latin typeface="Times New Roman"/>
                <a:cs typeface="Times New Roman"/>
              </a:rPr>
              <a:t>e</a:t>
            </a:r>
            <a:r>
              <a:rPr spc="-15" dirty="0" err="1">
                <a:latin typeface="Times New Roman"/>
                <a:cs typeface="Times New Roman"/>
              </a:rPr>
              <a:t>c</a:t>
            </a:r>
            <a:r>
              <a:rPr dirty="0" err="1">
                <a:latin typeface="Times New Roman"/>
                <a:cs typeface="Times New Roman"/>
              </a:rPr>
              <a:t>h</a:t>
            </a:r>
            <a:r>
              <a:rPr spc="5" dirty="0" err="1">
                <a:latin typeface="Times New Roman"/>
                <a:cs typeface="Times New Roman"/>
              </a:rPr>
              <a:t>n</a:t>
            </a:r>
            <a:r>
              <a:rPr spc="-5" dirty="0" err="1">
                <a:latin typeface="Times New Roman"/>
                <a:cs typeface="Times New Roman"/>
              </a:rPr>
              <a:t>ica</a:t>
            </a:r>
            <a:r>
              <a:rPr dirty="0" err="1">
                <a:latin typeface="Times New Roman"/>
                <a:cs typeface="Times New Roman"/>
              </a:rPr>
              <a:t>l</a:t>
            </a:r>
            <a:r>
              <a:rPr spc="-204" dirty="0">
                <a:latin typeface="Times New Roman"/>
                <a:cs typeface="Times New Roman"/>
              </a:rPr>
              <a:t> </a:t>
            </a:r>
            <a:r>
              <a:rPr dirty="0">
                <a:latin typeface="Times New Roman"/>
                <a:cs typeface="Times New Roman"/>
              </a:rPr>
              <a:t>De</a:t>
            </a:r>
            <a:r>
              <a:rPr spc="-5" dirty="0">
                <a:latin typeface="Times New Roman"/>
                <a:cs typeface="Times New Roman"/>
              </a:rPr>
              <a:t>t</a:t>
            </a:r>
            <a:r>
              <a:rPr spc="-15" dirty="0">
                <a:latin typeface="Times New Roman"/>
                <a:cs typeface="Times New Roman"/>
              </a:rPr>
              <a:t>a</a:t>
            </a:r>
            <a:r>
              <a:rPr spc="-5" dirty="0">
                <a:latin typeface="Times New Roman"/>
                <a:cs typeface="Times New Roman"/>
              </a:rPr>
              <a:t>ils</a:t>
            </a:r>
            <a:endParaRPr dirty="0">
              <a:latin typeface="Times New Roman"/>
              <a:cs typeface="Times New Roman"/>
            </a:endParaRPr>
          </a:p>
          <a:p>
            <a:pPr marL="137795" indent="-125730">
              <a:lnSpc>
                <a:spcPct val="100000"/>
              </a:lnSpc>
              <a:spcBef>
                <a:spcPts val="5"/>
              </a:spcBef>
              <a:buSzPct val="96428"/>
              <a:buFont typeface="Arial MT"/>
              <a:buChar char="•"/>
              <a:tabLst>
                <a:tab pos="138430" algn="l"/>
              </a:tabLst>
            </a:pPr>
            <a:r>
              <a:rPr spc="-10" dirty="0">
                <a:latin typeface="Times New Roman"/>
                <a:cs typeface="Times New Roman"/>
              </a:rPr>
              <a:t>Ke</a:t>
            </a:r>
            <a:r>
              <a:rPr dirty="0">
                <a:latin typeface="Times New Roman"/>
                <a:cs typeface="Times New Roman"/>
              </a:rPr>
              <a:t>y</a:t>
            </a:r>
            <a:r>
              <a:rPr spc="-155" dirty="0">
                <a:latin typeface="Times New Roman"/>
                <a:cs typeface="Times New Roman"/>
              </a:rPr>
              <a:t> </a:t>
            </a:r>
            <a:r>
              <a:rPr spc="-5" dirty="0">
                <a:latin typeface="Times New Roman"/>
                <a:cs typeface="Times New Roman"/>
              </a:rPr>
              <a:t>Features</a:t>
            </a:r>
            <a:endParaRPr dirty="0">
              <a:latin typeface="Times New Roman"/>
              <a:cs typeface="Times New Roman"/>
            </a:endParaRPr>
          </a:p>
          <a:p>
            <a:pPr marL="137795" indent="-125730">
              <a:lnSpc>
                <a:spcPct val="100000"/>
              </a:lnSpc>
              <a:spcBef>
                <a:spcPts val="5"/>
              </a:spcBef>
              <a:buSzPct val="96428"/>
              <a:buFont typeface="Arial MT"/>
              <a:buChar char="•"/>
              <a:tabLst>
                <a:tab pos="138430" algn="l"/>
              </a:tabLst>
            </a:pPr>
            <a:r>
              <a:rPr spc="-5" dirty="0">
                <a:latin typeface="Times New Roman"/>
                <a:cs typeface="Times New Roman"/>
              </a:rPr>
              <a:t>Projec</a:t>
            </a:r>
            <a:r>
              <a:rPr dirty="0">
                <a:latin typeface="Times New Roman"/>
                <a:cs typeface="Times New Roman"/>
              </a:rPr>
              <a:t>t</a:t>
            </a:r>
            <a:r>
              <a:rPr spc="-225" dirty="0">
                <a:latin typeface="Times New Roman"/>
                <a:cs typeface="Times New Roman"/>
              </a:rPr>
              <a:t> </a:t>
            </a:r>
            <a:r>
              <a:rPr dirty="0">
                <a:latin typeface="Times New Roman"/>
                <a:cs typeface="Times New Roman"/>
              </a:rPr>
              <a:t>H</a:t>
            </a:r>
            <a:r>
              <a:rPr spc="-5" dirty="0">
                <a:latin typeface="Times New Roman"/>
                <a:cs typeface="Times New Roman"/>
              </a:rPr>
              <a:t>i</a:t>
            </a:r>
            <a:r>
              <a:rPr dirty="0">
                <a:latin typeface="Times New Roman"/>
                <a:cs typeface="Times New Roman"/>
              </a:rPr>
              <a:t>gh</a:t>
            </a:r>
            <a:r>
              <a:rPr spc="-5" dirty="0">
                <a:latin typeface="Times New Roman"/>
                <a:cs typeface="Times New Roman"/>
              </a:rPr>
              <a:t>li</a:t>
            </a:r>
            <a:r>
              <a:rPr dirty="0">
                <a:latin typeface="Times New Roman"/>
                <a:cs typeface="Times New Roman"/>
              </a:rPr>
              <a:t>gh</a:t>
            </a:r>
            <a:r>
              <a:rPr spc="-5" dirty="0">
                <a:latin typeface="Times New Roman"/>
                <a:cs typeface="Times New Roman"/>
              </a:rPr>
              <a:t>t</a:t>
            </a:r>
            <a:r>
              <a:rPr dirty="0">
                <a:latin typeface="Times New Roman"/>
                <a:cs typeface="Times New Roman"/>
              </a:rPr>
              <a:t>s</a:t>
            </a:r>
          </a:p>
          <a:p>
            <a:pPr marL="137795" indent="-125730">
              <a:lnSpc>
                <a:spcPct val="100000"/>
              </a:lnSpc>
              <a:spcBef>
                <a:spcPts val="5"/>
              </a:spcBef>
              <a:buSzPct val="96428"/>
              <a:buFont typeface="Arial MT"/>
              <a:buChar char="•"/>
              <a:tabLst>
                <a:tab pos="138430" algn="l"/>
              </a:tabLst>
            </a:pPr>
            <a:r>
              <a:rPr spc="-5" dirty="0">
                <a:latin typeface="Times New Roman"/>
                <a:cs typeface="Times New Roman"/>
              </a:rPr>
              <a:t>Conclusion</a:t>
            </a:r>
            <a:r>
              <a:rPr lang="en-IN" spc="-5" dirty="0">
                <a:latin typeface="Times New Roman"/>
                <a:cs typeface="Times New Roman"/>
              </a:rPr>
              <a:t> and Future Scope</a:t>
            </a:r>
            <a:endParaRPr dirty="0">
              <a:latin typeface="Times New Roman"/>
              <a:cs typeface="Times New Roman"/>
            </a:endParaRPr>
          </a:p>
          <a:p>
            <a:pPr marL="137795" indent="-125730">
              <a:lnSpc>
                <a:spcPct val="100000"/>
              </a:lnSpc>
              <a:spcBef>
                <a:spcPts val="10"/>
              </a:spcBef>
              <a:buSzPct val="96428"/>
              <a:buFont typeface="Arial MT"/>
              <a:buChar char="•"/>
              <a:tabLst>
                <a:tab pos="138430" algn="l"/>
              </a:tabLst>
            </a:pPr>
            <a:r>
              <a:rPr spc="-5" dirty="0">
                <a:latin typeface="Times New Roman"/>
                <a:cs typeface="Times New Roman"/>
              </a:rPr>
              <a:t>References</a:t>
            </a:r>
            <a:endParaRPr dirty="0">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8600" y="228600"/>
            <a:ext cx="7760970" cy="3208571"/>
          </a:xfrm>
          <a:prstGeom prst="rect">
            <a:avLst/>
          </a:prstGeom>
        </p:spPr>
        <p:txBody>
          <a:bodyPr vert="horz" wrap="square" lIns="0" tIns="12700" rIns="0" bIns="0" rtlCol="0">
            <a:spAutoFit/>
          </a:bodyPr>
          <a:lstStyle/>
          <a:p>
            <a:pPr marL="83820">
              <a:lnSpc>
                <a:spcPct val="100000"/>
              </a:lnSpc>
              <a:spcBef>
                <a:spcPts val="100"/>
              </a:spcBef>
            </a:pPr>
            <a:r>
              <a:rPr sz="4000" spc="-10" dirty="0">
                <a:latin typeface="Times New Roman"/>
                <a:cs typeface="Times New Roman"/>
              </a:rPr>
              <a:t>Introduction</a:t>
            </a:r>
            <a:endParaRPr lang="en-IN" sz="4000" spc="-10" dirty="0">
              <a:latin typeface="Times New Roman"/>
              <a:cs typeface="Times New Roman"/>
            </a:endParaRPr>
          </a:p>
          <a:p>
            <a:pPr marL="83820">
              <a:lnSpc>
                <a:spcPct val="100000"/>
              </a:lnSpc>
              <a:spcBef>
                <a:spcPts val="100"/>
              </a:spcBef>
            </a:pPr>
            <a:endParaRPr lang="en-IN" sz="4000" spc="-10" dirty="0">
              <a:latin typeface="Times New Roman"/>
              <a:cs typeface="Times New Roman"/>
            </a:endParaRPr>
          </a:p>
          <a:p>
            <a:pPr marL="83820">
              <a:lnSpc>
                <a:spcPct val="100000"/>
              </a:lnSpc>
              <a:spcBef>
                <a:spcPts val="100"/>
              </a:spcBef>
            </a:pPr>
            <a:r>
              <a:rPr lang="en-US" dirty="0"/>
              <a:t>Plant diseases are a major challenge in agriculture, affecting crop yield and food production worldwide. Early detection is essential but traditional methods like manual inspection are time-consuming and not always accessible. This project uses Machine Learning techniques such as CNN and KNN to identify plant diseases from leaf images. With the help of mobile applications, farmers can quickly diagnose crop issues and receive guidance, making disease detection faster, more affordable, and accessible, especially for small and remote farmers.</a:t>
            </a:r>
            <a:endParaRPr dirty="0">
              <a:latin typeface="Times New Roman"/>
              <a:cs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46100" y="310515"/>
            <a:ext cx="3120390" cy="513080"/>
          </a:xfrm>
          <a:prstGeom prst="rect">
            <a:avLst/>
          </a:prstGeom>
        </p:spPr>
        <p:txBody>
          <a:bodyPr vert="horz" wrap="square" lIns="0" tIns="12700" rIns="0" bIns="0" rtlCol="0">
            <a:spAutoFit/>
          </a:bodyPr>
          <a:lstStyle/>
          <a:p>
            <a:pPr marL="12700">
              <a:lnSpc>
                <a:spcPct val="100000"/>
              </a:lnSpc>
              <a:spcBef>
                <a:spcPts val="100"/>
              </a:spcBef>
            </a:pPr>
            <a:r>
              <a:rPr sz="3200" spc="-5" dirty="0">
                <a:solidFill>
                  <a:srgbClr val="000000"/>
                </a:solidFill>
                <a:latin typeface="Times New Roman"/>
                <a:cs typeface="Times New Roman"/>
              </a:rPr>
              <a:t>Problem</a:t>
            </a:r>
            <a:r>
              <a:rPr sz="3200" spc="-100" dirty="0">
                <a:solidFill>
                  <a:srgbClr val="000000"/>
                </a:solidFill>
                <a:latin typeface="Times New Roman"/>
                <a:cs typeface="Times New Roman"/>
              </a:rPr>
              <a:t> </a:t>
            </a:r>
            <a:r>
              <a:rPr sz="3200" spc="-5" dirty="0">
                <a:solidFill>
                  <a:srgbClr val="000000"/>
                </a:solidFill>
                <a:latin typeface="Times New Roman"/>
                <a:cs typeface="Times New Roman"/>
              </a:rPr>
              <a:t>Statement</a:t>
            </a:r>
            <a:endParaRPr sz="3200" dirty="0">
              <a:latin typeface="Times New Roman"/>
              <a:cs typeface="Times New Roman"/>
            </a:endParaRPr>
          </a:p>
        </p:txBody>
      </p:sp>
      <p:sp>
        <p:nvSpPr>
          <p:cNvPr id="3" name="object 3"/>
          <p:cNvSpPr txBox="1"/>
          <p:nvPr/>
        </p:nvSpPr>
        <p:spPr>
          <a:xfrm>
            <a:off x="168275" y="1596439"/>
            <a:ext cx="8653780" cy="1969129"/>
          </a:xfrm>
          <a:prstGeom prst="rect">
            <a:avLst/>
          </a:prstGeom>
        </p:spPr>
        <p:txBody>
          <a:bodyPr vert="horz" wrap="square" lIns="0" tIns="29845" rIns="0" bIns="0" rtlCol="0">
            <a:spAutoFit/>
          </a:bodyPr>
          <a:lstStyle/>
          <a:p>
            <a:r>
              <a:rPr lang="en-US" dirty="0"/>
              <a:t>Crop yields are significantly affected by plant diseases, making early detection essential. However, traditional methods rely on manual inspection by experts, which is slow, inconsistent, and often inaccessible to farmers in remote areas. While deep learning models offer high accuracy, they require heavy computational resources, limiting their practical use. Simpler machine learning methods are more efficient but may lack accuracy in complex conditions. This project aims to develop a balanced solution that ensures accurate, fast, and resource-efficient plant disease detection suitable for real-world use.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46100" y="310515"/>
            <a:ext cx="2818765" cy="513080"/>
          </a:xfrm>
          <a:prstGeom prst="rect">
            <a:avLst/>
          </a:prstGeom>
        </p:spPr>
        <p:txBody>
          <a:bodyPr vert="horz" wrap="square" lIns="0" tIns="12700" rIns="0" bIns="0" rtlCol="0">
            <a:spAutoFit/>
          </a:bodyPr>
          <a:lstStyle/>
          <a:p>
            <a:pPr marL="12700">
              <a:lnSpc>
                <a:spcPct val="100000"/>
              </a:lnSpc>
              <a:spcBef>
                <a:spcPts val="100"/>
              </a:spcBef>
            </a:pPr>
            <a:r>
              <a:rPr sz="3200" spc="-55" dirty="0">
                <a:solidFill>
                  <a:srgbClr val="000000"/>
                </a:solidFill>
                <a:latin typeface="Times New Roman"/>
                <a:cs typeface="Times New Roman"/>
              </a:rPr>
              <a:t>Technical</a:t>
            </a:r>
            <a:r>
              <a:rPr sz="3200" spc="-100" dirty="0">
                <a:solidFill>
                  <a:srgbClr val="000000"/>
                </a:solidFill>
                <a:latin typeface="Times New Roman"/>
                <a:cs typeface="Times New Roman"/>
              </a:rPr>
              <a:t> </a:t>
            </a:r>
            <a:r>
              <a:rPr sz="3200" dirty="0">
                <a:solidFill>
                  <a:srgbClr val="000000"/>
                </a:solidFill>
                <a:latin typeface="Times New Roman"/>
                <a:cs typeface="Times New Roman"/>
              </a:rPr>
              <a:t>Details</a:t>
            </a:r>
            <a:endParaRPr sz="3200">
              <a:latin typeface="Times New Roman"/>
              <a:cs typeface="Times New Roman"/>
            </a:endParaRPr>
          </a:p>
        </p:txBody>
      </p:sp>
      <p:sp>
        <p:nvSpPr>
          <p:cNvPr id="3" name="object 3"/>
          <p:cNvSpPr txBox="1"/>
          <p:nvPr/>
        </p:nvSpPr>
        <p:spPr>
          <a:xfrm>
            <a:off x="78739" y="903277"/>
            <a:ext cx="8806180" cy="5552802"/>
          </a:xfrm>
          <a:prstGeom prst="rect">
            <a:avLst/>
          </a:prstGeom>
        </p:spPr>
        <p:txBody>
          <a:bodyPr vert="horz" wrap="square" lIns="0" tIns="12700" rIns="0" bIns="0" rtlCol="0">
            <a:spAutoFit/>
          </a:bodyPr>
          <a:lstStyle/>
          <a:p>
            <a:r>
              <a:rPr lang="en-US" b="1" dirty="0"/>
              <a:t>Programming &amp; Machine Learning Frameworks:</a:t>
            </a:r>
            <a:endParaRPr lang="en-US" dirty="0"/>
          </a:p>
          <a:p>
            <a:r>
              <a:rPr lang="en-US" b="1" dirty="0"/>
              <a:t>Python:</a:t>
            </a:r>
            <a:r>
              <a:rPr lang="en-US" dirty="0"/>
              <a:t> Core programming language used for model development and system implementation. </a:t>
            </a:r>
          </a:p>
          <a:p>
            <a:r>
              <a:rPr lang="en-US" b="1" dirty="0" err="1"/>
              <a:t>PyTorch</a:t>
            </a:r>
            <a:r>
              <a:rPr lang="en-US" b="1" dirty="0"/>
              <a:t>:</a:t>
            </a:r>
            <a:r>
              <a:rPr lang="en-US" dirty="0"/>
              <a:t> Used to implement and train the </a:t>
            </a:r>
            <a:r>
              <a:rPr lang="en-US" b="1" dirty="0"/>
              <a:t>ResNet18 CNN model</a:t>
            </a:r>
            <a:r>
              <a:rPr lang="en-US" dirty="0"/>
              <a:t> for image classification. </a:t>
            </a:r>
          </a:p>
          <a:p>
            <a:r>
              <a:rPr lang="en-US" b="1" dirty="0"/>
              <a:t>Scikit-learn:</a:t>
            </a:r>
            <a:r>
              <a:rPr lang="en-US" dirty="0"/>
              <a:t> Used for implementing the </a:t>
            </a:r>
            <a:r>
              <a:rPr lang="en-US" b="1" dirty="0"/>
              <a:t>K-Nearest Neighbor (KNN)</a:t>
            </a:r>
            <a:r>
              <a:rPr lang="en-US" dirty="0"/>
              <a:t> classifier as a baseline model. </a:t>
            </a:r>
          </a:p>
          <a:p>
            <a:r>
              <a:rPr lang="en-US" b="1" dirty="0"/>
              <a:t>NumPy &amp; Pandas:</a:t>
            </a:r>
            <a:r>
              <a:rPr lang="en-US" dirty="0"/>
              <a:t> Used for data preprocessing, manipulation, and numerical computations. </a:t>
            </a:r>
          </a:p>
          <a:p>
            <a:r>
              <a:rPr lang="en-US" b="1" dirty="0"/>
              <a:t>Image Processing &amp; Data Handling:</a:t>
            </a:r>
            <a:endParaRPr lang="en-US" dirty="0"/>
          </a:p>
          <a:p>
            <a:r>
              <a:rPr lang="en-US" b="1" dirty="0"/>
              <a:t>OpenCV / PIL:</a:t>
            </a:r>
            <a:r>
              <a:rPr lang="en-US" dirty="0"/>
              <a:t> Used for image loading, resizing, and preprocessing. </a:t>
            </a:r>
          </a:p>
          <a:p>
            <a:r>
              <a:rPr lang="en-US" dirty="0"/>
              <a:t>Images are resized to </a:t>
            </a:r>
            <a:r>
              <a:rPr lang="en-US" b="1" dirty="0"/>
              <a:t>224×224 pixels</a:t>
            </a:r>
            <a:r>
              <a:rPr lang="en-US" dirty="0"/>
              <a:t> and normalized before being fed into the model. </a:t>
            </a:r>
          </a:p>
          <a:p>
            <a:r>
              <a:rPr lang="en-US" b="1" dirty="0"/>
              <a:t>Deep Learning Model:</a:t>
            </a:r>
            <a:endParaRPr lang="en-US" dirty="0"/>
          </a:p>
          <a:p>
            <a:r>
              <a:rPr lang="en-US" b="1" dirty="0"/>
              <a:t>ResNet18 (CNN):</a:t>
            </a:r>
            <a:r>
              <a:rPr lang="en-US" dirty="0"/>
              <a:t> </a:t>
            </a:r>
          </a:p>
          <a:p>
            <a:pPr lvl="1"/>
            <a:r>
              <a:rPr lang="en-US" dirty="0"/>
              <a:t>Pretrained on </a:t>
            </a:r>
            <a:r>
              <a:rPr lang="en-US" b="1" dirty="0"/>
              <a:t>ImageNet</a:t>
            </a:r>
            <a:r>
              <a:rPr lang="en-US" dirty="0"/>
              <a:t> and fine-tuned using the </a:t>
            </a:r>
            <a:r>
              <a:rPr lang="en-US" b="1" dirty="0" err="1"/>
              <a:t>PlantVillage</a:t>
            </a:r>
            <a:r>
              <a:rPr lang="en-US" b="1" dirty="0"/>
              <a:t> dataset</a:t>
            </a:r>
            <a:r>
              <a:rPr lang="en-US" dirty="0"/>
              <a:t>. </a:t>
            </a:r>
          </a:p>
          <a:p>
            <a:pPr lvl="1"/>
            <a:r>
              <a:rPr lang="en-US" dirty="0"/>
              <a:t>Extracts complex features like texture, color variations, and disease patterns. </a:t>
            </a:r>
          </a:p>
          <a:p>
            <a:pPr lvl="1"/>
            <a:r>
              <a:rPr lang="en-US" dirty="0"/>
              <a:t>Uses </a:t>
            </a:r>
            <a:r>
              <a:rPr lang="en-US" b="1" dirty="0"/>
              <a:t>transfer learning</a:t>
            </a:r>
            <a:r>
              <a:rPr lang="en-US" dirty="0"/>
              <a:t> for improved accuracy and faster training. </a:t>
            </a:r>
          </a:p>
          <a:p>
            <a:r>
              <a:rPr lang="en-US" b="1" dirty="0"/>
              <a:t>Traditional Machine Learning Model:</a:t>
            </a:r>
            <a:endParaRPr lang="en-US" dirty="0"/>
          </a:p>
          <a:p>
            <a:r>
              <a:rPr lang="en-US" b="1" dirty="0"/>
              <a:t>K-Nearest Neighbor (KNN):</a:t>
            </a:r>
            <a:r>
              <a:rPr lang="en-US" dirty="0"/>
              <a:t> </a:t>
            </a:r>
          </a:p>
          <a:p>
            <a:pPr lvl="1"/>
            <a:r>
              <a:rPr lang="en-US" dirty="0"/>
              <a:t>Used for comparison with CNN. </a:t>
            </a:r>
          </a:p>
          <a:p>
            <a:pPr lvl="1"/>
            <a:r>
              <a:rPr lang="en-US" dirty="0"/>
              <a:t>Classifies images based on similarity using distance metrics (e.g., Euclidean distance). </a:t>
            </a:r>
          </a:p>
          <a:p>
            <a:pPr lvl="1"/>
            <a:r>
              <a:rPr lang="en-US" dirty="0"/>
              <a:t>Lightweight and suitable for low-resource environments.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46100" y="310515"/>
            <a:ext cx="2179320" cy="513080"/>
          </a:xfrm>
          <a:prstGeom prst="rect">
            <a:avLst/>
          </a:prstGeom>
        </p:spPr>
        <p:txBody>
          <a:bodyPr vert="horz" wrap="square" lIns="0" tIns="12700" rIns="0" bIns="0" rtlCol="0">
            <a:spAutoFit/>
          </a:bodyPr>
          <a:lstStyle/>
          <a:p>
            <a:pPr marL="12700">
              <a:lnSpc>
                <a:spcPct val="100000"/>
              </a:lnSpc>
              <a:spcBef>
                <a:spcPts val="100"/>
              </a:spcBef>
            </a:pPr>
            <a:r>
              <a:rPr sz="3200" dirty="0">
                <a:solidFill>
                  <a:srgbClr val="000000"/>
                </a:solidFill>
                <a:latin typeface="Times New Roman"/>
                <a:cs typeface="Times New Roman"/>
              </a:rPr>
              <a:t>Key</a:t>
            </a:r>
            <a:r>
              <a:rPr sz="3200" spc="-100" dirty="0">
                <a:solidFill>
                  <a:srgbClr val="000000"/>
                </a:solidFill>
                <a:latin typeface="Times New Roman"/>
                <a:cs typeface="Times New Roman"/>
              </a:rPr>
              <a:t> </a:t>
            </a:r>
            <a:r>
              <a:rPr sz="3200" spc="-5" dirty="0">
                <a:solidFill>
                  <a:srgbClr val="000000"/>
                </a:solidFill>
                <a:latin typeface="Times New Roman"/>
                <a:cs typeface="Times New Roman"/>
              </a:rPr>
              <a:t>Features</a:t>
            </a:r>
            <a:endParaRPr sz="3200">
              <a:latin typeface="Times New Roman"/>
              <a:cs typeface="Times New Roman"/>
            </a:endParaRPr>
          </a:p>
        </p:txBody>
      </p:sp>
      <p:sp>
        <p:nvSpPr>
          <p:cNvPr id="3" name="object 3"/>
          <p:cNvSpPr txBox="1"/>
          <p:nvPr/>
        </p:nvSpPr>
        <p:spPr>
          <a:xfrm>
            <a:off x="474344" y="1337840"/>
            <a:ext cx="6514465" cy="3180358"/>
          </a:xfrm>
          <a:prstGeom prst="rect">
            <a:avLst/>
          </a:prstGeom>
        </p:spPr>
        <p:txBody>
          <a:bodyPr vert="horz" wrap="square" lIns="0" tIns="12700" rIns="0" bIns="0" rtlCol="0">
            <a:spAutoFit/>
          </a:bodyPr>
          <a:lstStyle/>
          <a:p>
            <a:pPr marL="12700">
              <a:lnSpc>
                <a:spcPct val="100000"/>
              </a:lnSpc>
              <a:spcBef>
                <a:spcPts val="100"/>
              </a:spcBef>
            </a:pPr>
            <a:r>
              <a:rPr lang="en-US" u="sng" spc="-5" dirty="0">
                <a:uFill>
                  <a:solidFill>
                    <a:srgbClr val="000000"/>
                  </a:solidFill>
                </a:uFill>
                <a:latin typeface="Times New Roman"/>
                <a:cs typeface="Times New Roman"/>
              </a:rPr>
              <a:t>Some</a:t>
            </a:r>
            <a:r>
              <a:rPr lang="en-US" u="sng" dirty="0">
                <a:uFill>
                  <a:solidFill>
                    <a:srgbClr val="000000"/>
                  </a:solidFill>
                </a:uFill>
                <a:latin typeface="Times New Roman"/>
                <a:cs typeface="Times New Roman"/>
              </a:rPr>
              <a:t> of</a:t>
            </a:r>
            <a:r>
              <a:rPr lang="en-US" u="sng" spc="10" dirty="0">
                <a:uFill>
                  <a:solidFill>
                    <a:srgbClr val="000000"/>
                  </a:solidFill>
                </a:uFill>
                <a:latin typeface="Times New Roman"/>
                <a:cs typeface="Times New Roman"/>
              </a:rPr>
              <a:t> </a:t>
            </a:r>
            <a:r>
              <a:rPr lang="en-US" u="sng" spc="-5" dirty="0">
                <a:uFill>
                  <a:solidFill>
                    <a:srgbClr val="000000"/>
                  </a:solidFill>
                </a:uFill>
                <a:latin typeface="Times New Roman"/>
                <a:cs typeface="Times New Roman"/>
              </a:rPr>
              <a:t>the</a:t>
            </a:r>
            <a:r>
              <a:rPr lang="en-US" u="sng" spc="-10" dirty="0">
                <a:uFill>
                  <a:solidFill>
                    <a:srgbClr val="000000"/>
                  </a:solidFill>
                </a:uFill>
                <a:latin typeface="Times New Roman"/>
                <a:cs typeface="Times New Roman"/>
              </a:rPr>
              <a:t> </a:t>
            </a:r>
            <a:r>
              <a:rPr lang="en-US" u="sng" spc="-5" dirty="0">
                <a:uFill>
                  <a:solidFill>
                    <a:srgbClr val="000000"/>
                  </a:solidFill>
                </a:uFill>
                <a:latin typeface="Times New Roman"/>
                <a:cs typeface="Times New Roman"/>
              </a:rPr>
              <a:t>key</a:t>
            </a:r>
            <a:r>
              <a:rPr lang="en-US" u="sng" spc="10" dirty="0">
                <a:uFill>
                  <a:solidFill>
                    <a:srgbClr val="000000"/>
                  </a:solidFill>
                </a:uFill>
                <a:latin typeface="Times New Roman"/>
                <a:cs typeface="Times New Roman"/>
              </a:rPr>
              <a:t> </a:t>
            </a:r>
            <a:r>
              <a:rPr lang="en-US" u="sng" spc="-5" dirty="0">
                <a:uFill>
                  <a:solidFill>
                    <a:srgbClr val="000000"/>
                  </a:solidFill>
                </a:uFill>
                <a:latin typeface="Times New Roman"/>
                <a:cs typeface="Times New Roman"/>
              </a:rPr>
              <a:t>features</a:t>
            </a:r>
            <a:r>
              <a:rPr lang="en-US" u="sng" spc="-20" dirty="0">
                <a:uFill>
                  <a:solidFill>
                    <a:srgbClr val="000000"/>
                  </a:solidFill>
                </a:uFill>
                <a:latin typeface="Times New Roman"/>
                <a:cs typeface="Times New Roman"/>
              </a:rPr>
              <a:t> </a:t>
            </a:r>
            <a:r>
              <a:rPr lang="en-US" u="sng" dirty="0">
                <a:uFill>
                  <a:solidFill>
                    <a:srgbClr val="000000"/>
                  </a:solidFill>
                </a:uFill>
                <a:latin typeface="Times New Roman"/>
                <a:cs typeface="Times New Roman"/>
              </a:rPr>
              <a:t>of</a:t>
            </a:r>
            <a:r>
              <a:rPr lang="en-US" u="sng" spc="10" dirty="0">
                <a:uFill>
                  <a:solidFill>
                    <a:srgbClr val="000000"/>
                  </a:solidFill>
                </a:uFill>
                <a:latin typeface="Times New Roman"/>
                <a:cs typeface="Times New Roman"/>
              </a:rPr>
              <a:t> </a:t>
            </a:r>
            <a:r>
              <a:rPr lang="en-US" u="sng" spc="-5" dirty="0">
                <a:uFill>
                  <a:solidFill>
                    <a:srgbClr val="000000"/>
                  </a:solidFill>
                </a:uFill>
                <a:latin typeface="Times New Roman"/>
                <a:cs typeface="Times New Roman"/>
              </a:rPr>
              <a:t>product</a:t>
            </a:r>
            <a:r>
              <a:rPr lang="en-US" u="sng" spc="5" dirty="0">
                <a:uFill>
                  <a:solidFill>
                    <a:srgbClr val="000000"/>
                  </a:solidFill>
                </a:uFill>
                <a:latin typeface="Times New Roman"/>
                <a:cs typeface="Times New Roman"/>
              </a:rPr>
              <a:t> </a:t>
            </a:r>
            <a:r>
              <a:rPr lang="en-US" u="sng" spc="-5" dirty="0">
                <a:uFill>
                  <a:solidFill>
                    <a:srgbClr val="000000"/>
                  </a:solidFill>
                </a:uFill>
                <a:latin typeface="Times New Roman"/>
                <a:cs typeface="Times New Roman"/>
              </a:rPr>
              <a:t>website</a:t>
            </a:r>
            <a:r>
              <a:rPr lang="en-US" u="sng" dirty="0">
                <a:uFill>
                  <a:solidFill>
                    <a:srgbClr val="000000"/>
                  </a:solidFill>
                </a:uFill>
                <a:latin typeface="Times New Roman"/>
                <a:cs typeface="Times New Roman"/>
              </a:rPr>
              <a:t> </a:t>
            </a:r>
            <a:r>
              <a:rPr lang="en-US" u="sng" spc="-5" dirty="0">
                <a:uFill>
                  <a:solidFill>
                    <a:srgbClr val="000000"/>
                  </a:solidFill>
                </a:uFill>
                <a:latin typeface="Times New Roman"/>
                <a:cs typeface="Times New Roman"/>
              </a:rPr>
              <a:t>notifications</a:t>
            </a:r>
            <a:r>
              <a:rPr lang="en-US" u="sng" spc="-30" dirty="0">
                <a:uFill>
                  <a:solidFill>
                    <a:srgbClr val="000000"/>
                  </a:solidFill>
                </a:uFill>
                <a:latin typeface="Times New Roman"/>
                <a:cs typeface="Times New Roman"/>
              </a:rPr>
              <a:t> </a:t>
            </a:r>
            <a:r>
              <a:rPr lang="en-US" u="sng" spc="-5" dirty="0">
                <a:uFill>
                  <a:solidFill>
                    <a:srgbClr val="000000"/>
                  </a:solidFill>
                </a:uFill>
                <a:latin typeface="Times New Roman"/>
                <a:cs typeface="Times New Roman"/>
              </a:rPr>
              <a:t>include:</a:t>
            </a:r>
          </a:p>
          <a:p>
            <a:pPr>
              <a:lnSpc>
                <a:spcPct val="100000"/>
              </a:lnSpc>
              <a:spcBef>
                <a:spcPts val="40"/>
              </a:spcBef>
            </a:pPr>
            <a:endParaRPr lang="en-US" dirty="0">
              <a:latin typeface="Times New Roman"/>
              <a:cs typeface="Times New Roman"/>
            </a:endParaRPr>
          </a:p>
          <a:p>
            <a:pPr marL="355600" indent="-342900">
              <a:lnSpc>
                <a:spcPct val="100000"/>
              </a:lnSpc>
              <a:buAutoNum type="arabicPeriod"/>
              <a:tabLst>
                <a:tab pos="354965" algn="l"/>
                <a:tab pos="355600" algn="l"/>
              </a:tabLst>
            </a:pPr>
            <a:r>
              <a:rPr lang="en-US" b="1" dirty="0"/>
              <a:t>Automated Disease Detection:</a:t>
            </a:r>
            <a:r>
              <a:rPr lang="en-US" dirty="0"/>
              <a:t> Uses CNN (ResNet18) to accurately classify plant diseases from leaf </a:t>
            </a:r>
            <a:r>
              <a:rPr lang="en-US" dirty="0" err="1"/>
              <a:t>images.Provides</a:t>
            </a:r>
            <a:r>
              <a:rPr lang="en-US" dirty="0"/>
              <a:t> valuable insights and information to users.</a:t>
            </a:r>
          </a:p>
          <a:p>
            <a:pPr marL="355600" indent="-342900">
              <a:lnSpc>
                <a:spcPct val="100000"/>
              </a:lnSpc>
              <a:buAutoNum type="arabicPeriod"/>
              <a:tabLst>
                <a:tab pos="354965" algn="l"/>
                <a:tab pos="355600" algn="l"/>
              </a:tabLst>
            </a:pPr>
            <a:r>
              <a:rPr lang="en-US" b="1" dirty="0"/>
              <a:t>Comparative Modeling:</a:t>
            </a:r>
            <a:r>
              <a:rPr lang="en-US" dirty="0"/>
              <a:t> Integrates both CNN and KNN to balance accuracy and computational efficiency.</a:t>
            </a:r>
          </a:p>
          <a:p>
            <a:pPr marL="355600" indent="-342900">
              <a:lnSpc>
                <a:spcPct val="100000"/>
              </a:lnSpc>
              <a:buAutoNum type="arabicPeriod"/>
              <a:tabLst>
                <a:tab pos="354965" algn="l"/>
                <a:tab pos="355600" algn="l"/>
              </a:tabLst>
            </a:pPr>
            <a:r>
              <a:rPr lang="en-US" b="1" dirty="0"/>
              <a:t>Real-Time Prediction:</a:t>
            </a:r>
            <a:r>
              <a:rPr lang="en-US" dirty="0"/>
              <a:t> Enables instant disease diagnosis through the </a:t>
            </a:r>
            <a:r>
              <a:rPr lang="en-US" dirty="0" err="1"/>
              <a:t>AgriSmart</a:t>
            </a:r>
            <a:r>
              <a:rPr lang="en-US" dirty="0"/>
              <a:t> web application.</a:t>
            </a:r>
          </a:p>
          <a:p>
            <a:pPr marL="355600" indent="-342900">
              <a:lnSpc>
                <a:spcPct val="100000"/>
              </a:lnSpc>
              <a:buAutoNum type="arabicPeriod"/>
              <a:tabLst>
                <a:tab pos="354965" algn="l"/>
                <a:tab pos="355600" algn="l"/>
              </a:tabLst>
            </a:pPr>
            <a:r>
              <a:rPr lang="en-US" b="1" dirty="0"/>
              <a:t>Resource Efficiency:</a:t>
            </a:r>
            <a:r>
              <a:rPr lang="en-US" dirty="0"/>
              <a:t> KNN provides a lightweight alternative suitable for low-resource environments.</a:t>
            </a:r>
            <a:endParaRPr lang="en-US" dirty="0">
              <a:latin typeface="Times New Roman"/>
              <a:cs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2E041B-77F5-4C91-9922-6D4FF712DFA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88EFD78-8D3C-BD59-6529-90D213E5E8C7}"/>
              </a:ext>
            </a:extLst>
          </p:cNvPr>
          <p:cNvSpPr txBox="1">
            <a:spLocks noGrp="1"/>
          </p:cNvSpPr>
          <p:nvPr>
            <p:ph type="title"/>
          </p:nvPr>
        </p:nvSpPr>
        <p:spPr>
          <a:xfrm>
            <a:off x="546100" y="310515"/>
            <a:ext cx="3797300" cy="505267"/>
          </a:xfrm>
          <a:prstGeom prst="rect">
            <a:avLst/>
          </a:prstGeom>
        </p:spPr>
        <p:txBody>
          <a:bodyPr vert="horz" wrap="square" lIns="0" tIns="12700" rIns="0" bIns="0" rtlCol="0">
            <a:spAutoFit/>
          </a:bodyPr>
          <a:lstStyle/>
          <a:p>
            <a:pPr marL="12700">
              <a:lnSpc>
                <a:spcPct val="100000"/>
              </a:lnSpc>
              <a:spcBef>
                <a:spcPts val="100"/>
              </a:spcBef>
            </a:pPr>
            <a:r>
              <a:rPr lang="en-IN" sz="3200" dirty="0">
                <a:solidFill>
                  <a:schemeClr val="tx1"/>
                </a:solidFill>
                <a:latin typeface="Times New Roman"/>
                <a:cs typeface="Times New Roman"/>
              </a:rPr>
              <a:t>Project Highlights</a:t>
            </a:r>
            <a:endParaRPr sz="3200" dirty="0">
              <a:solidFill>
                <a:schemeClr val="tx1"/>
              </a:solidFill>
              <a:latin typeface="Times New Roman"/>
              <a:cs typeface="Times New Roman"/>
            </a:endParaRPr>
          </a:p>
        </p:txBody>
      </p:sp>
      <p:sp>
        <p:nvSpPr>
          <p:cNvPr id="6" name="Rectangle 3">
            <a:extLst>
              <a:ext uri="{FF2B5EF4-FFF2-40B4-BE49-F238E27FC236}">
                <a16:creationId xmlns:a16="http://schemas.microsoft.com/office/drawing/2014/main" id="{8B863283-FECC-BB64-37E0-8BB3E76B61F7}"/>
              </a:ext>
            </a:extLst>
          </p:cNvPr>
          <p:cNvSpPr>
            <a:spLocks noChangeArrowheads="1"/>
          </p:cNvSpPr>
          <p:nvPr/>
        </p:nvSpPr>
        <p:spPr bwMode="auto">
          <a:xfrm>
            <a:off x="228600" y="1905001"/>
            <a:ext cx="829351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buFontTx/>
              <a:buChar char="•"/>
            </a:pPr>
            <a:r>
              <a:rPr kumimoji="0" lang="en-US" altLang="en-US" b="1" i="0" u="none" strike="noStrike" cap="none" normalizeH="0" baseline="0" dirty="0">
                <a:ln>
                  <a:noFill/>
                </a:ln>
                <a:solidFill>
                  <a:schemeClr val="tx1"/>
                </a:solidFill>
                <a:effectLst/>
                <a:latin typeface="Arial" panose="020B0604020202020204" pitchFamily="34" charset="0"/>
              </a:rPr>
              <a:t>Accuracy:</a:t>
            </a:r>
            <a:r>
              <a:rPr kumimoji="0" lang="en-US" altLang="en-US" b="0" i="0" u="none" strike="noStrike" cap="none" normalizeH="0" baseline="0" dirty="0">
                <a:ln>
                  <a:noFill/>
                </a:ln>
                <a:solidFill>
                  <a:schemeClr val="tx1"/>
                </a:solidFill>
                <a:effectLst/>
                <a:latin typeface="Arial" panose="020B0604020202020204" pitchFamily="34" charset="0"/>
              </a:rPr>
              <a:t> </a:t>
            </a:r>
            <a:r>
              <a:rPr lang="en-US" dirty="0"/>
              <a:t>Trained on high-quality datasets to deliver reliable and precise predictions.</a:t>
            </a:r>
          </a:p>
          <a:p>
            <a:pPr lvl="0" eaLnBrk="0" fontAlgn="base" hangingPunct="0">
              <a:spcBef>
                <a:spcPct val="0"/>
              </a:spcBef>
              <a:spcAft>
                <a:spcPct val="0"/>
              </a:spcAft>
              <a:buFontTx/>
              <a:buChar char="•"/>
            </a:pPr>
            <a:r>
              <a:rPr kumimoji="0" lang="en-US" altLang="en-US" b="1" i="0" u="none" strike="noStrike" cap="none" normalizeH="0" baseline="0" dirty="0">
                <a:ln>
                  <a:noFill/>
                </a:ln>
                <a:solidFill>
                  <a:schemeClr val="tx1"/>
                </a:solidFill>
                <a:effectLst/>
                <a:latin typeface="Arial" panose="020B0604020202020204" pitchFamily="34" charset="0"/>
              </a:rPr>
              <a:t>User Engagement:</a:t>
            </a:r>
            <a:r>
              <a:rPr kumimoji="0" lang="en-US" altLang="en-US" b="0" i="0" u="none" strike="noStrike" cap="none" normalizeH="0" baseline="0" dirty="0">
                <a:ln>
                  <a:noFill/>
                </a:ln>
                <a:solidFill>
                  <a:schemeClr val="tx1"/>
                </a:solidFill>
                <a:effectLst/>
                <a:latin typeface="Arial" panose="020B0604020202020204" pitchFamily="34" charset="0"/>
              </a:rPr>
              <a:t> </a:t>
            </a:r>
            <a:r>
              <a:rPr lang="en-US" dirty="0"/>
              <a:t>Interactive and responsive interface ensuring a smooth user journey.</a:t>
            </a:r>
          </a:p>
          <a:p>
            <a:pPr lvl="0" eaLnBrk="0" fontAlgn="base" hangingPunct="0">
              <a:spcBef>
                <a:spcPct val="0"/>
              </a:spcBef>
              <a:spcAft>
                <a:spcPct val="0"/>
              </a:spcAft>
              <a:buFontTx/>
              <a:buChar char="•"/>
            </a:pPr>
            <a:r>
              <a:rPr kumimoji="0" lang="en-US" altLang="en-US" b="1" i="0" u="none" strike="noStrike" cap="none" normalizeH="0" baseline="0" dirty="0">
                <a:ln>
                  <a:noFill/>
                </a:ln>
                <a:solidFill>
                  <a:schemeClr val="tx1"/>
                </a:solidFill>
                <a:effectLst/>
                <a:latin typeface="Arial" panose="020B0604020202020204" pitchFamily="34" charset="0"/>
              </a:rPr>
              <a:t>Market Value:</a:t>
            </a:r>
            <a:r>
              <a:rPr kumimoji="0" lang="en-US" altLang="en-US" b="0" i="0" u="none" strike="noStrike" cap="none" normalizeH="0" baseline="0" dirty="0">
                <a:ln>
                  <a:noFill/>
                </a:ln>
                <a:solidFill>
                  <a:schemeClr val="tx1"/>
                </a:solidFill>
                <a:effectLst/>
                <a:latin typeface="Arial" panose="020B0604020202020204" pitchFamily="34" charset="0"/>
              </a:rPr>
              <a:t> </a:t>
            </a:r>
            <a:r>
              <a:rPr lang="en-US" dirty="0"/>
              <a:t>Enhances usability by providing meaningful insights for better decision-making.</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975545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0B2A4-DE2B-8FE3-BD41-0461B898910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712386B-91BA-C2E4-C77C-B1E7157D911F}"/>
              </a:ext>
            </a:extLst>
          </p:cNvPr>
          <p:cNvSpPr txBox="1">
            <a:spLocks noGrp="1"/>
          </p:cNvSpPr>
          <p:nvPr>
            <p:ph type="title"/>
          </p:nvPr>
        </p:nvSpPr>
        <p:spPr>
          <a:xfrm>
            <a:off x="228600" y="228600"/>
            <a:ext cx="6083300" cy="505267"/>
          </a:xfrm>
          <a:prstGeom prst="rect">
            <a:avLst/>
          </a:prstGeom>
        </p:spPr>
        <p:txBody>
          <a:bodyPr vert="horz" wrap="square" lIns="0" tIns="12700" rIns="0" bIns="0" rtlCol="0">
            <a:spAutoFit/>
          </a:bodyPr>
          <a:lstStyle/>
          <a:p>
            <a:pPr marL="12700">
              <a:lnSpc>
                <a:spcPct val="100000"/>
              </a:lnSpc>
              <a:spcBef>
                <a:spcPts val="100"/>
              </a:spcBef>
            </a:pPr>
            <a:r>
              <a:rPr lang="en-IN" sz="3200" dirty="0">
                <a:solidFill>
                  <a:schemeClr val="tx1"/>
                </a:solidFill>
              </a:rPr>
              <a:t>Conclusion &amp; Future Scope</a:t>
            </a:r>
            <a:endParaRPr sz="3200" dirty="0">
              <a:solidFill>
                <a:schemeClr val="tx1"/>
              </a:solidFill>
              <a:latin typeface="Times New Roman"/>
              <a:cs typeface="Times New Roman"/>
            </a:endParaRPr>
          </a:p>
        </p:txBody>
      </p:sp>
      <p:sp>
        <p:nvSpPr>
          <p:cNvPr id="6" name="Rectangle 3">
            <a:extLst>
              <a:ext uri="{FF2B5EF4-FFF2-40B4-BE49-F238E27FC236}">
                <a16:creationId xmlns:a16="http://schemas.microsoft.com/office/drawing/2014/main" id="{EA52E993-D1A5-F230-4462-43BE86DF32C7}"/>
              </a:ext>
            </a:extLst>
          </p:cNvPr>
          <p:cNvSpPr>
            <a:spLocks noChangeArrowheads="1"/>
          </p:cNvSpPr>
          <p:nvPr/>
        </p:nvSpPr>
        <p:spPr bwMode="auto">
          <a:xfrm>
            <a:off x="228600" y="1489502"/>
            <a:ext cx="8293510"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dirty="0"/>
              <a:t>The proposed Plant Disease Detection System effectively transforms raw leaf image data into accurate and actionable disease insights for farmers.</a:t>
            </a:r>
          </a:p>
          <a:p>
            <a:r>
              <a:rPr lang="en-US" b="1" dirty="0"/>
              <a:t>Conclusion:</a:t>
            </a:r>
            <a:r>
              <a:rPr lang="en-US" dirty="0"/>
              <a:t> The combination of deep learning (CNN) and traditional machine learning (KNN) provides a balanced and efficient solution for plant disease classification, ensuring both accuracy and practical usability in real-world conditions.</a:t>
            </a:r>
          </a:p>
          <a:p>
            <a:r>
              <a:rPr lang="en-US" b="1" dirty="0"/>
              <a:t>Future Scope:</a:t>
            </a:r>
            <a:r>
              <a:rPr lang="en-US" dirty="0"/>
              <a:t> The system can be further improved by expanding the dataset to include more crop varieties and disease types, optimizing models for mobile and low-resource devices, and integrating multilingual support for wider accessibility among farmers.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687659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1F3A5-FB09-4038-D510-1B2FABC65B5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121AF45-5583-F598-CCE7-B0D8213D4553}"/>
              </a:ext>
            </a:extLst>
          </p:cNvPr>
          <p:cNvSpPr txBox="1">
            <a:spLocks noGrp="1"/>
          </p:cNvSpPr>
          <p:nvPr>
            <p:ph type="title"/>
          </p:nvPr>
        </p:nvSpPr>
        <p:spPr>
          <a:xfrm>
            <a:off x="228600" y="228600"/>
            <a:ext cx="6083300" cy="505267"/>
          </a:xfrm>
          <a:prstGeom prst="rect">
            <a:avLst/>
          </a:prstGeom>
        </p:spPr>
        <p:txBody>
          <a:bodyPr vert="horz" wrap="square" lIns="0" tIns="12700" rIns="0" bIns="0" rtlCol="0">
            <a:spAutoFit/>
          </a:bodyPr>
          <a:lstStyle/>
          <a:p>
            <a:pPr marL="12700">
              <a:lnSpc>
                <a:spcPct val="100000"/>
              </a:lnSpc>
              <a:spcBef>
                <a:spcPts val="100"/>
              </a:spcBef>
            </a:pPr>
            <a:r>
              <a:rPr lang="en-IN" sz="3200" dirty="0">
                <a:solidFill>
                  <a:schemeClr val="tx1"/>
                </a:solidFill>
              </a:rPr>
              <a:t>References</a:t>
            </a:r>
            <a:endParaRPr sz="3200" dirty="0">
              <a:solidFill>
                <a:schemeClr val="tx1"/>
              </a:solidFill>
              <a:latin typeface="Times New Roman"/>
              <a:cs typeface="Times New Roman"/>
            </a:endParaRPr>
          </a:p>
        </p:txBody>
      </p:sp>
      <p:sp>
        <p:nvSpPr>
          <p:cNvPr id="6" name="Rectangle 3">
            <a:extLst>
              <a:ext uri="{FF2B5EF4-FFF2-40B4-BE49-F238E27FC236}">
                <a16:creationId xmlns:a16="http://schemas.microsoft.com/office/drawing/2014/main" id="{7023F09A-9E22-11D8-24BD-D88C421D6BCD}"/>
              </a:ext>
            </a:extLst>
          </p:cNvPr>
          <p:cNvSpPr>
            <a:spLocks noChangeArrowheads="1"/>
          </p:cNvSpPr>
          <p:nvPr/>
        </p:nvSpPr>
        <p:spPr bwMode="auto">
          <a:xfrm>
            <a:off x="228600" y="2597497"/>
            <a:ext cx="829351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2">
            <a:extLst>
              <a:ext uri="{FF2B5EF4-FFF2-40B4-BE49-F238E27FC236}">
                <a16:creationId xmlns:a16="http://schemas.microsoft.com/office/drawing/2014/main" id="{656E6EDE-D515-1D5B-DBE2-3B9082EEFE14}"/>
              </a:ext>
            </a:extLst>
          </p:cNvPr>
          <p:cNvSpPr>
            <a:spLocks noChangeArrowheads="1"/>
          </p:cNvSpPr>
          <p:nvPr/>
        </p:nvSpPr>
        <p:spPr bwMode="auto">
          <a:xfrm>
            <a:off x="35341" y="1027836"/>
            <a:ext cx="9073318"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buFontTx/>
              <a:buChar char="•"/>
            </a:pPr>
            <a:r>
              <a:rPr lang="en-US" dirty="0"/>
              <a:t>S. P. Mohanty, D. P. Hughes, and M. </a:t>
            </a:r>
            <a:r>
              <a:rPr lang="en-US" dirty="0" err="1"/>
              <a:t>Salathé</a:t>
            </a:r>
            <a:r>
              <a:rPr lang="en-US" dirty="0"/>
              <a:t>, “Using deep learning for image-based plant </a:t>
            </a:r>
          </a:p>
          <a:p>
            <a:pPr lvl="0" eaLnBrk="0" fontAlgn="base" hangingPunct="0">
              <a:spcBef>
                <a:spcPct val="0"/>
              </a:spcBef>
              <a:spcAft>
                <a:spcPct val="0"/>
              </a:spcAft>
            </a:pPr>
            <a:r>
              <a:rPr lang="en-US" dirty="0"/>
              <a:t>disease detection,” </a:t>
            </a:r>
            <a:r>
              <a:rPr lang="en-US" i="1" dirty="0"/>
              <a:t>Frontiers in Plant Science</a:t>
            </a:r>
            <a:r>
              <a:rPr lang="en-US" dirty="0"/>
              <a:t>, vol. 7, p. 1419, 2016.</a:t>
            </a:r>
          </a:p>
          <a:p>
            <a:pPr lvl="0" eaLnBrk="0" fontAlgn="base" hangingPunct="0">
              <a:spcBef>
                <a:spcPct val="0"/>
              </a:spcBef>
              <a:spcAft>
                <a:spcPct val="0"/>
              </a:spcAft>
              <a:buFontTx/>
              <a:buChar char="•"/>
            </a:pPr>
            <a:r>
              <a:rPr lang="en-US" dirty="0"/>
              <a:t>P. Ferentinos, “Deep learning models for plant disease detection and diagnosis,” </a:t>
            </a:r>
            <a:r>
              <a:rPr lang="en-US" i="1" dirty="0"/>
              <a:t>Computers</a:t>
            </a:r>
          </a:p>
          <a:p>
            <a:pPr lvl="0" eaLnBrk="0" fontAlgn="base" hangingPunct="0">
              <a:spcBef>
                <a:spcPct val="0"/>
              </a:spcBef>
              <a:spcAft>
                <a:spcPct val="0"/>
              </a:spcAft>
            </a:pPr>
            <a:r>
              <a:rPr lang="en-US" i="1" dirty="0"/>
              <a:t> and Electronics in Agriculture</a:t>
            </a:r>
            <a:r>
              <a:rPr lang="en-US" dirty="0"/>
              <a:t>, vol. 145, pp. 311–318, 2018.</a:t>
            </a:r>
          </a:p>
          <a:p>
            <a:pPr lvl="0" eaLnBrk="0" fontAlgn="base" hangingPunct="0">
              <a:spcBef>
                <a:spcPct val="0"/>
              </a:spcBef>
              <a:spcAft>
                <a:spcPct val="0"/>
              </a:spcAft>
              <a:buFontTx/>
              <a:buChar char="•"/>
            </a:pPr>
            <a:r>
              <a:rPr lang="en-US" dirty="0"/>
              <a:t>M. Too, L. Yujian, S. Njuki, and L. </a:t>
            </a:r>
            <a:r>
              <a:rPr lang="en-US" dirty="0" err="1"/>
              <a:t>Yingchun</a:t>
            </a:r>
            <a:r>
              <a:rPr lang="en-US" dirty="0"/>
              <a:t>, “A comparative study of fine-tuning deep learning </a:t>
            </a:r>
          </a:p>
          <a:p>
            <a:pPr lvl="0" eaLnBrk="0" fontAlgn="base" hangingPunct="0">
              <a:spcBef>
                <a:spcPct val="0"/>
              </a:spcBef>
              <a:spcAft>
                <a:spcPct val="0"/>
              </a:spcAft>
            </a:pPr>
            <a:r>
              <a:rPr lang="en-US" dirty="0"/>
              <a:t>models for plant disease identification,” </a:t>
            </a:r>
            <a:r>
              <a:rPr lang="en-US" i="1" dirty="0"/>
              <a:t>Computers and Electronics in Agriculture</a:t>
            </a:r>
            <a:r>
              <a:rPr lang="en-US" dirty="0"/>
              <a:t>, vol. 161,</a:t>
            </a:r>
          </a:p>
          <a:p>
            <a:pPr lvl="0" eaLnBrk="0" fontAlgn="base" hangingPunct="0">
              <a:spcBef>
                <a:spcPct val="0"/>
              </a:spcBef>
              <a:spcAft>
                <a:spcPct val="0"/>
              </a:spcAft>
            </a:pPr>
            <a:r>
              <a:rPr lang="en-US" dirty="0"/>
              <a:t>pp. 272–279, 2019.</a:t>
            </a:r>
          </a:p>
          <a:p>
            <a:pPr marL="285750" lvl="0" indent="-285750" eaLnBrk="0" fontAlgn="base" hangingPunct="0">
              <a:spcBef>
                <a:spcPct val="0"/>
              </a:spcBef>
              <a:spcAft>
                <a:spcPct val="0"/>
              </a:spcAft>
              <a:buFont typeface="Arial" panose="020B0604020202020204" pitchFamily="34" charset="0"/>
              <a:buChar char="•"/>
            </a:pPr>
            <a:r>
              <a:rPr lang="en-US" dirty="0"/>
              <a:t>K. He, X. Zhang, S. Ren, and J. Sun, “Deep residual learning for image recognition,”</a:t>
            </a:r>
          </a:p>
          <a:p>
            <a:pPr lvl="0" eaLnBrk="0" fontAlgn="base" hangingPunct="0">
              <a:spcBef>
                <a:spcPct val="0"/>
              </a:spcBef>
              <a:spcAft>
                <a:spcPct val="0"/>
              </a:spcAft>
            </a:pPr>
            <a:r>
              <a:rPr lang="en-US" i="1" dirty="0"/>
              <a:t>Proceedings of the IEEE Conference on Computer Vision and Pattern Recognition (CVPR)</a:t>
            </a:r>
            <a:r>
              <a:rPr lang="en-US" dirty="0"/>
              <a:t>, 2016.</a:t>
            </a:r>
          </a:p>
          <a:p>
            <a:pPr marL="285750" lvl="0" indent="-285750" eaLnBrk="0" fontAlgn="base" hangingPunct="0">
              <a:spcBef>
                <a:spcPct val="0"/>
              </a:spcBef>
              <a:spcAft>
                <a:spcPct val="0"/>
              </a:spcAft>
              <a:buFont typeface="Arial" panose="020B0604020202020204" pitchFamily="34" charset="0"/>
              <a:buChar char="•"/>
            </a:pPr>
            <a:r>
              <a:rPr lang="en-US" dirty="0"/>
              <a:t>S. Sladojevic et al., “Deep neural networks based recognition of plant diseases by leaf image</a:t>
            </a:r>
          </a:p>
          <a:p>
            <a:pPr lvl="0" eaLnBrk="0" fontAlgn="base" hangingPunct="0">
              <a:spcBef>
                <a:spcPct val="0"/>
              </a:spcBef>
              <a:spcAft>
                <a:spcPct val="0"/>
              </a:spcAft>
            </a:pPr>
            <a:r>
              <a:rPr lang="en-US" dirty="0"/>
              <a:t> classification,” </a:t>
            </a:r>
            <a:r>
              <a:rPr lang="en-US" i="1" dirty="0"/>
              <a:t>Computational Intelligence and Neuroscience</a:t>
            </a:r>
            <a:r>
              <a:rPr lang="en-US" dirty="0"/>
              <a:t>, 2016.</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631483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857250"/>
            <a:ext cx="9144000" cy="57404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187</TotalTime>
  <Words>866</Words>
  <Application>Microsoft Office PowerPoint</Application>
  <PresentationFormat>On-screen Show (4:3)</PresentationFormat>
  <Paragraphs>72</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Arial Black</vt:lpstr>
      <vt:lpstr>Arial MT</vt:lpstr>
      <vt:lpstr>Calibri</vt:lpstr>
      <vt:lpstr>Times New Roman</vt:lpstr>
      <vt:lpstr>Office Theme</vt:lpstr>
      <vt:lpstr>           AgriSmart AI</vt:lpstr>
      <vt:lpstr>Table of Contents</vt:lpstr>
      <vt:lpstr>PowerPoint Presentation</vt:lpstr>
      <vt:lpstr>Problem Statement</vt:lpstr>
      <vt:lpstr>Technical Details</vt:lpstr>
      <vt:lpstr>Key Features</vt:lpstr>
      <vt:lpstr>Project Highlights</vt:lpstr>
      <vt:lpstr>Conclusion &amp; Future Scope</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Front End Engineering-I  Project</dc:title>
  <dc:creator>Zamzar</dc:creator>
  <cp:lastModifiedBy>Akshit</cp:lastModifiedBy>
  <cp:revision>4</cp:revision>
  <dcterms:created xsi:type="dcterms:W3CDTF">2023-05-21T13:15:52Z</dcterms:created>
  <dcterms:modified xsi:type="dcterms:W3CDTF">2026-04-26T10:57:32Z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or">
    <vt:lpwstr>Zamzar</vt:lpwstr>
  </property>
</Properties>
</file>